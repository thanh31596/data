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89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1" r:id="rId6"/>
    <p:sldId id="325" r:id="rId7"/>
    <p:sldId id="260" r:id="rId8"/>
    <p:sldId id="262" r:id="rId9"/>
    <p:sldId id="263" r:id="rId10"/>
    <p:sldId id="264" r:id="rId11"/>
    <p:sldId id="326" r:id="rId12"/>
    <p:sldId id="327" r:id="rId13"/>
    <p:sldId id="265" r:id="rId14"/>
    <p:sldId id="266" r:id="rId15"/>
    <p:sldId id="267" r:id="rId16"/>
    <p:sldId id="268" r:id="rId17"/>
    <p:sldId id="270" r:id="rId18"/>
    <p:sldId id="271" r:id="rId19"/>
    <p:sldId id="272" r:id="rId20"/>
    <p:sldId id="274" r:id="rId21"/>
    <p:sldId id="275" r:id="rId22"/>
    <p:sldId id="276" r:id="rId23"/>
    <p:sldId id="277" r:id="rId24"/>
    <p:sldId id="279" r:id="rId25"/>
    <p:sldId id="280" r:id="rId26"/>
    <p:sldId id="281" r:id="rId27"/>
    <p:sldId id="282" r:id="rId28"/>
    <p:sldId id="284" r:id="rId29"/>
    <p:sldId id="285" r:id="rId30"/>
    <p:sldId id="286" r:id="rId31"/>
    <p:sldId id="287" r:id="rId32"/>
    <p:sldId id="288" r:id="rId33"/>
    <p:sldId id="290" r:id="rId34"/>
    <p:sldId id="289" r:id="rId35"/>
    <p:sldId id="291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293" r:id="rId45"/>
    <p:sldId id="302" r:id="rId46"/>
    <p:sldId id="303" r:id="rId47"/>
    <p:sldId id="304" r:id="rId48"/>
    <p:sldId id="305" r:id="rId49"/>
    <p:sldId id="322" r:id="rId50"/>
    <p:sldId id="306" r:id="rId51"/>
    <p:sldId id="307" r:id="rId52"/>
    <p:sldId id="308" r:id="rId53"/>
    <p:sldId id="283" r:id="rId54"/>
    <p:sldId id="312" r:id="rId55"/>
    <p:sldId id="311" r:id="rId56"/>
    <p:sldId id="313" r:id="rId57"/>
    <p:sldId id="314" r:id="rId58"/>
    <p:sldId id="315" r:id="rId59"/>
    <p:sldId id="316" r:id="rId60"/>
    <p:sldId id="328" r:id="rId61"/>
    <p:sldId id="317" r:id="rId62"/>
    <p:sldId id="318" r:id="rId63"/>
    <p:sldId id="319" r:id="rId64"/>
    <p:sldId id="320" r:id="rId65"/>
    <p:sldId id="321" r:id="rId66"/>
    <p:sldId id="323" r:id="rId67"/>
    <p:sldId id="324" r:id="rId68"/>
  </p:sldIdLst>
  <p:sldSz cx="9144000" cy="6858000" type="screen4x3"/>
  <p:notesSz cx="6858000" cy="9144000"/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623E"/>
    <a:srgbClr val="B2B2B2"/>
    <a:srgbClr val="FFFFFF"/>
    <a:srgbClr val="FF6600"/>
    <a:srgbClr val="FF9900"/>
    <a:srgbClr val="003300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99" autoAdjust="0"/>
    <p:restoredTop sz="94660"/>
  </p:normalViewPr>
  <p:slideViewPr>
    <p:cSldViewPr>
      <p:cViewPr varScale="1">
        <p:scale>
          <a:sx n="109" d="100"/>
          <a:sy n="109" d="100"/>
        </p:scale>
        <p:origin x="164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4" Type="http://schemas.openxmlformats.org/officeDocument/2006/relationships/image" Target="../media/image4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 smtClean="0"/>
              <a:t>Click to edit Master text styles</a:t>
            </a:r>
          </a:p>
          <a:p>
            <a:pPr lvl="1"/>
            <a:r>
              <a:rPr lang="en-AU" noProof="0" smtClean="0"/>
              <a:t>Second level</a:t>
            </a:r>
          </a:p>
          <a:p>
            <a:pPr lvl="2"/>
            <a:r>
              <a:rPr lang="en-AU" noProof="0" smtClean="0"/>
              <a:t>Third level</a:t>
            </a:r>
          </a:p>
          <a:p>
            <a:pPr lvl="3"/>
            <a:r>
              <a:rPr lang="en-AU" noProof="0" smtClean="0"/>
              <a:t>Fourth level</a:t>
            </a:r>
          </a:p>
          <a:p>
            <a:pPr lvl="4"/>
            <a:r>
              <a:rPr lang="en-AU" noProof="0" smtClean="0"/>
              <a:t>Fifth level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7DD7781-9E84-4FE2-84F6-9EAA9324FCA9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FBBDB6-4A09-4BFC-B84A-271D33E18561}" type="slidenum">
              <a:rPr lang="en-AU" altLang="en-US"/>
              <a:pPr>
                <a:spcBef>
                  <a:spcPct val="0"/>
                </a:spcBef>
              </a:pPr>
              <a:t>1</a:t>
            </a:fld>
            <a:endParaRPr lang="en-AU" altLang="en-US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>
        <p:nvSpPr>
          <p:cNvPr id="23041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AU"/>
              <a:t>Click to edit Master title style</a:t>
            </a:r>
          </a:p>
        </p:txBody>
      </p:sp>
      <p:sp>
        <p:nvSpPr>
          <p:cNvPr id="230412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AU"/>
              <a:t>Click to edit Master subtitle style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990312D-7BFD-4171-9092-724949B6FC0A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87359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1836B5-E672-490D-BFA8-178695D9A6FB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071389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6037E0-5CA9-4230-A7F0-D5D6AF0BAF50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54479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B47146-0EF1-440C-A20D-E837F51F0928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285244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1D5CC7-AC4B-428D-8DF6-EFEE8DC78D4B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116131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38F047-27A1-4C8A-9FF0-1AC163CEEB4F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731131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362AD8-3B59-4DC2-A542-241B3A85326A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10174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DFAC6-1F27-43EC-83BD-B1910614B382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473663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DD273-E69A-46CC-8E9A-F1B59B0C79C5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636955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5FB9C4-70F0-43C6-8173-CB1108C6959E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968938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A32A69-E781-4757-8850-5B8C8A7319B7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519160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51C41F-E204-46D8-9842-2EEF0BB4B0C1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112687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38100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76800" y="1600200"/>
            <a:ext cx="38100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3941763"/>
            <a:ext cx="38100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6800" y="3941763"/>
            <a:ext cx="38100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73536-ED44-444D-B73B-4F3F840627AB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061409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76800" y="1600200"/>
            <a:ext cx="38100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876800" y="3941763"/>
            <a:ext cx="38100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EF6901-69F4-45D5-900E-1A291AC04374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366092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1033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034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5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6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 smtClean="0"/>
              <a:t>Click to edit Master title style</a:t>
            </a: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 smtClean="0"/>
              <a:t>Click to edit Master text styles</a:t>
            </a:r>
          </a:p>
          <a:p>
            <a:pPr lvl="1"/>
            <a:r>
              <a:rPr lang="en-AU" altLang="en-US" smtClean="0"/>
              <a:t>Second level</a:t>
            </a:r>
          </a:p>
          <a:p>
            <a:pPr lvl="2"/>
            <a:r>
              <a:rPr lang="en-AU" altLang="en-US" smtClean="0"/>
              <a:t>Third level</a:t>
            </a:r>
          </a:p>
          <a:p>
            <a:pPr lvl="3"/>
            <a:r>
              <a:rPr lang="en-AU" altLang="en-US" smtClean="0"/>
              <a:t>Fourth level</a:t>
            </a:r>
          </a:p>
          <a:p>
            <a:pPr lvl="4"/>
            <a:r>
              <a:rPr lang="en-AU" altLang="en-US" smtClean="0"/>
              <a:t>Fifth level</a:t>
            </a:r>
          </a:p>
        </p:txBody>
      </p:sp>
      <p:sp>
        <p:nvSpPr>
          <p:cNvPr id="22938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77509DAD-644F-4473-959B-636378D0108A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  <p:sp>
        <p:nvSpPr>
          <p:cNvPr id="1032" name="Line 12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0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4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8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0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1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5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8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9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0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1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3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5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7.w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39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0.wm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43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44.w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4.bin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Probability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Week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8C79DEE-6DCB-4539-A4BD-778B3D084EC0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AU" altLang="en-US" sz="10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Objectives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57350"/>
            <a:ext cx="8424862" cy="4364038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On completion of this module you should be able to:</a:t>
            </a:r>
          </a:p>
          <a:p>
            <a:pPr eaLnBrk="1" hangingPunct="1"/>
            <a:r>
              <a:rPr lang="en-AU" altLang="en-US" smtClean="0"/>
              <a:t>demonstrate understanding of basic probability concepts including sample spaces, events, contingency tables, marginal and joint probability,</a:t>
            </a:r>
          </a:p>
          <a:p>
            <a:pPr eaLnBrk="1" hangingPunct="1"/>
            <a:r>
              <a:rPr lang="en-AU" altLang="en-US" smtClean="0"/>
              <a:t>use and compute conditional probabilities,</a:t>
            </a:r>
          </a:p>
          <a:p>
            <a:pPr eaLnBrk="1" hangingPunct="1"/>
            <a:r>
              <a:rPr lang="en-AU" altLang="en-US" smtClean="0"/>
              <a:t>use the addition and multiplication rules,</a:t>
            </a:r>
          </a:p>
          <a:p>
            <a:pPr eaLnBrk="1" hangingPunct="1"/>
            <a:r>
              <a:rPr lang="en-AU" altLang="en-US" smtClean="0"/>
              <a:t>explain and demonstrate statistical independence and </a:t>
            </a:r>
          </a:p>
          <a:p>
            <a:pPr eaLnBrk="1" hangingPunct="1"/>
            <a:r>
              <a:rPr lang="en-AU" altLang="en-US" smtClean="0"/>
              <a:t>apply Bayes’ theorem and counting rules.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7A2365-8857-4566-A9CF-3D64DCF0ABC8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AU" altLang="en-US" sz="100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What is probability?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11237"/>
            <a:ext cx="7686675" cy="4222694"/>
          </a:xfrm>
        </p:spPr>
        <p:txBody>
          <a:bodyPr>
            <a:spAutoFit/>
          </a:bodyPr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AU" sz="2200" dirty="0" smtClean="0"/>
              <a:t>Probability is the theoretical aspect of statistics as opposed to application aspects such as EDA (Exploratory Data Analysis or descriptive statistics).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AU" sz="2200" dirty="0" smtClean="0"/>
              <a:t>Its features are: </a:t>
            </a:r>
          </a:p>
          <a:p>
            <a:pPr eaLnBrk="1" hangingPunct="1">
              <a:defRPr/>
            </a:pPr>
            <a:r>
              <a:rPr lang="en-AU" sz="2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Probability is the likelihood or chance that a particular event will occur.</a:t>
            </a:r>
          </a:p>
          <a:p>
            <a:pPr eaLnBrk="1" hangingPunct="1">
              <a:defRPr/>
            </a:pPr>
            <a:r>
              <a:rPr lang="en-AU" sz="2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 event that is certain has a probability of 1.</a:t>
            </a:r>
          </a:p>
          <a:p>
            <a:pPr eaLnBrk="1" hangingPunct="1">
              <a:defRPr/>
            </a:pPr>
            <a:r>
              <a:rPr lang="en-AU" sz="2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 impossible event has a probability of 0.</a:t>
            </a:r>
          </a:p>
          <a:p>
            <a:pPr eaLnBrk="1" hangingPunct="1">
              <a:defRPr/>
            </a:pPr>
            <a:r>
              <a:rPr lang="en-AU" sz="2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All probabilities are values from 0 to 1 (inclusive).</a:t>
            </a:r>
          </a:p>
          <a:p>
            <a:pPr eaLnBrk="1" hangingPunct="1">
              <a:defRPr/>
            </a:pPr>
            <a:r>
              <a:rPr lang="en-AU" sz="2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Thus, a probability can never be a negative value or a number greater than 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761D386-8C11-47D4-9F4E-199B5CA5791F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AU" altLang="en-US" sz="100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dirty="0" smtClean="0"/>
              <a:t>Three approaches to probability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876425"/>
            <a:ext cx="8353425" cy="4401205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b="1" dirty="0"/>
              <a:t>C</a:t>
            </a:r>
            <a:r>
              <a:rPr lang="en-AU" altLang="en-US" b="1" dirty="0" smtClean="0"/>
              <a:t>lassical probability</a:t>
            </a:r>
            <a:r>
              <a:rPr lang="en-AU" altLang="en-US" dirty="0" smtClean="0"/>
              <a:t> – the probability of success is based on prior knowledge of the process involved.</a:t>
            </a:r>
          </a:p>
          <a:p>
            <a:pPr eaLnBrk="1" hangingPunct="1"/>
            <a:r>
              <a:rPr lang="en-AU" altLang="en-US" dirty="0" smtClean="0"/>
              <a:t>Probability of occurrence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dirty="0" smtClean="0"/>
              <a:t>	where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dirty="0" smtClean="0"/>
              <a:t>		</a:t>
            </a:r>
            <a:r>
              <a:rPr lang="en-AU" altLang="en-US" i="1" dirty="0" smtClean="0"/>
              <a:t>X </a:t>
            </a:r>
            <a:r>
              <a:rPr lang="en-AU" altLang="en-US" dirty="0" smtClean="0"/>
              <a:t>= number of ways in which the event occurs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dirty="0" smtClean="0"/>
              <a:t>		</a:t>
            </a:r>
            <a:r>
              <a:rPr lang="en-AU" altLang="en-US" i="1" dirty="0" smtClean="0"/>
              <a:t>T </a:t>
            </a:r>
            <a:r>
              <a:rPr lang="en-AU" altLang="en-US" dirty="0" smtClean="0"/>
              <a:t>= total number of elementary outcomes</a:t>
            </a:r>
          </a:p>
          <a:p>
            <a:pPr eaLnBrk="1" hangingPunct="1"/>
            <a:r>
              <a:rPr lang="en-AU" altLang="en-US" dirty="0" smtClean="0"/>
              <a:t>Classical probability comes from intuitive understanding.</a:t>
            </a:r>
          </a:p>
        </p:txBody>
      </p:sp>
      <p:graphicFrame>
        <p:nvGraphicFramePr>
          <p:cNvPr id="135172" name="Object 4"/>
          <p:cNvGraphicFramePr>
            <a:graphicFrameLocks noChangeAspect="1"/>
          </p:cNvGraphicFramePr>
          <p:nvPr/>
        </p:nvGraphicFramePr>
        <p:xfrm>
          <a:off x="4932363" y="3138488"/>
          <a:ext cx="660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Equation" r:id="rId3" imgW="660400" imgH="825500" progId="Equation.DSMT4">
                  <p:embed/>
                </p:oleObj>
              </mc:Choice>
              <mc:Fallback>
                <p:oleObj name="Equation" r:id="rId3" imgW="660400" imgH="825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3138488"/>
                        <a:ext cx="660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019065-F4FD-48B6-8D56-E1D639707204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AU" altLang="en-US" sz="10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Examples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14500"/>
            <a:ext cx="7772400" cy="3797300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dirty="0" smtClean="0"/>
              <a:t>A six-sided die has </a:t>
            </a:r>
            <a:r>
              <a:rPr lang="en-AU" altLang="en-US" i="1" dirty="0" smtClean="0"/>
              <a:t>T </a:t>
            </a:r>
            <a:r>
              <a:rPr lang="en-AU" altLang="en-US" dirty="0" smtClean="0"/>
              <a:t>= 6 possible outcomes.  </a:t>
            </a:r>
          </a:p>
          <a:p>
            <a:pPr eaLnBrk="1" hangingPunct="1"/>
            <a:r>
              <a:rPr lang="en-AU" altLang="en-US" dirty="0" smtClean="0"/>
              <a:t>The probability of rolling a five is 1/6.</a:t>
            </a:r>
          </a:p>
          <a:p>
            <a:pPr eaLnBrk="1" hangingPunct="1"/>
            <a:r>
              <a:rPr lang="en-AU" altLang="en-US" dirty="0" smtClean="0"/>
              <a:t>Rolling two dice, there are </a:t>
            </a:r>
            <a:r>
              <a:rPr lang="en-AU" altLang="en-US" i="1" dirty="0" smtClean="0"/>
              <a:t>T</a:t>
            </a:r>
            <a:r>
              <a:rPr lang="en-AU" altLang="en-US" dirty="0" smtClean="0"/>
              <a:t> = 36 = 6 </a:t>
            </a:r>
            <a:r>
              <a:rPr lang="en-US" altLang="en-US" dirty="0" smtClean="0"/>
              <a:t>× 6 </a:t>
            </a:r>
            <a:r>
              <a:rPr lang="en-AU" altLang="en-US" dirty="0" smtClean="0"/>
              <a:t>possible outcomes.  </a:t>
            </a:r>
          </a:p>
          <a:p>
            <a:pPr eaLnBrk="1" hangingPunct="1"/>
            <a:r>
              <a:rPr lang="en-AU" altLang="en-US" dirty="0" smtClean="0"/>
              <a:t>The probability of rolling a total of six (adding the two values together) is 5/36 since you could roll 1 &amp; 5, 2 &amp; 4, 3 &amp; 3, 4&amp;2 and 5&amp;1. This is shown on the next page.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4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579562"/>
          </a:xfrm>
        </p:spPr>
        <p:txBody>
          <a:bodyPr/>
          <a:lstStyle/>
          <a:p>
            <a:r>
              <a:rPr lang="en-AU" altLang="en-US" sz="3200" smtClean="0"/>
              <a:t>Sample space and the event of rolling a total of 6 in a throw of two dice.</a:t>
            </a:r>
          </a:p>
        </p:txBody>
      </p:sp>
      <p:sp>
        <p:nvSpPr>
          <p:cNvPr id="102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86EEB3-56ED-445C-AFFB-7811D8630943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AU" altLang="en-US" sz="100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0" y="2166938"/>
          <a:ext cx="6096000" cy="2524128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1, 1</a:t>
                      </a:r>
                      <a:endParaRPr kumimoji="0" lang="en-AU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1, 2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1, 3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1, 4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1, 5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1, 6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2, 1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2, 2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2, 3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2, 4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2, 5</a:t>
                      </a:r>
                      <a:endParaRPr kumimoji="0" lang="en-AU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2, 6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3, 1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3, 2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3, 3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3, 4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3, 5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3, 6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4, 1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4, 2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4, 3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4, 4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4, 5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4, 6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5, 1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5, 2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5, 3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5, 4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5, 5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5, 6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6, 1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6, 2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6, 3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6, 4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6, 5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6, 6</a:t>
                      </a:r>
                      <a:endParaRPr kumimoji="0" lang="en-A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683073-398A-4427-9E0F-DB28C86621A9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AU" altLang="en-US" sz="10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dirty="0" smtClean="0"/>
              <a:t>Three approaches to probability (contd.)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30363"/>
            <a:ext cx="8353425" cy="3194721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b="1" dirty="0" smtClean="0"/>
              <a:t>Empirical probability</a:t>
            </a:r>
            <a:r>
              <a:rPr lang="en-AU" altLang="en-US" dirty="0" smtClean="0"/>
              <a:t> – probabilities are based on observed data, not on prior knowledge of the process.</a:t>
            </a:r>
          </a:p>
          <a:p>
            <a:pPr eaLnBrk="1" hangingPunct="1"/>
            <a:r>
              <a:rPr lang="en-AU" altLang="en-US" dirty="0" smtClean="0"/>
              <a:t>Example – we might observe that one out of the five cars in a car park is white.  Therefore, the probability that the next car that enters into the car park is white is 1/5.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72025B-CF0F-4602-9B59-7836F8AD912D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AU" altLang="en-US" sz="10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dirty="0" smtClean="0"/>
              <a:t>Three approaches to probability (contd.)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600200"/>
            <a:ext cx="8136904" cy="4585871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AU" altLang="en-US" b="1" dirty="0" smtClean="0"/>
              <a:t>Subjective probability</a:t>
            </a:r>
            <a:r>
              <a:rPr lang="en-AU" altLang="en-US" dirty="0" smtClean="0"/>
              <a:t> – the chance of an event is assigned by a particular individual.  </a:t>
            </a:r>
          </a:p>
          <a:p>
            <a:pPr eaLnBrk="1" hangingPunct="1"/>
            <a:r>
              <a:rPr lang="en-AU" altLang="en-US" sz="2600" dirty="0" smtClean="0"/>
              <a:t>Different people will assign different probabilities.</a:t>
            </a:r>
          </a:p>
          <a:p>
            <a:pPr eaLnBrk="1" hangingPunct="1"/>
            <a:r>
              <a:rPr lang="en-AU" altLang="en-US" dirty="0" smtClean="0"/>
              <a:t>Subjective probability is useful when probabilities of events can’t be determined empirically. Example – intuition of a punter as to which horse will win the Melbourne cup. </a:t>
            </a:r>
          </a:p>
          <a:p>
            <a:pPr eaLnBrk="1" hangingPunct="1"/>
            <a:r>
              <a:rPr lang="en-AU" altLang="en-US" dirty="0" smtClean="0"/>
              <a:t>Subjective probability gives the opportunity to include the experience and intelligence of an expert.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92BA4E-9CE8-41A0-90BE-2A4D65CD4F27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AU" altLang="en-US" sz="100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Some definitions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557338"/>
            <a:ext cx="8353425" cy="4824412"/>
          </a:xfrm>
        </p:spPr>
        <p:txBody>
          <a:bodyPr/>
          <a:lstStyle/>
          <a:p>
            <a:pPr eaLnBrk="1" hangingPunct="1"/>
            <a:r>
              <a:rPr lang="en-AU" altLang="en-US" b="1" i="1" dirty="0" smtClean="0"/>
              <a:t>Event</a:t>
            </a:r>
            <a:r>
              <a:rPr lang="en-AU" altLang="en-US" dirty="0" smtClean="0"/>
              <a:t> – a possible type of occurrence.</a:t>
            </a:r>
          </a:p>
          <a:p>
            <a:pPr eaLnBrk="1" hangingPunct="1"/>
            <a:r>
              <a:rPr lang="en-AU" altLang="en-US" b="1" i="1" dirty="0" smtClean="0"/>
              <a:t>Simple event</a:t>
            </a:r>
            <a:r>
              <a:rPr lang="en-AU" altLang="en-US" dirty="0" smtClean="0"/>
              <a:t> – can be described by a </a:t>
            </a:r>
            <a:r>
              <a:rPr lang="en-AU" altLang="en-US" i="1" dirty="0" smtClean="0"/>
              <a:t>single</a:t>
            </a:r>
            <a:r>
              <a:rPr lang="en-AU" altLang="en-US" dirty="0" smtClean="0"/>
              <a:t> characteristic.</a:t>
            </a:r>
          </a:p>
          <a:p>
            <a:pPr eaLnBrk="1" hangingPunct="1"/>
            <a:r>
              <a:rPr lang="en-AU" altLang="en-US" b="1" i="1" dirty="0" smtClean="0"/>
              <a:t>Sample space</a:t>
            </a:r>
            <a:r>
              <a:rPr lang="en-AU" altLang="en-US" dirty="0" smtClean="0"/>
              <a:t> – the collection of all possible events of a process.</a:t>
            </a:r>
          </a:p>
          <a:p>
            <a:pPr eaLnBrk="1" hangingPunct="1"/>
            <a:r>
              <a:rPr lang="en-AU" altLang="en-US" b="1" i="1" dirty="0" smtClean="0"/>
              <a:t>Complement</a:t>
            </a:r>
            <a:r>
              <a:rPr lang="en-AU" altLang="en-US" dirty="0" smtClean="0"/>
              <a:t> – the complement of an event, </a:t>
            </a:r>
            <a:r>
              <a:rPr lang="en-AU" altLang="en-US" i="1" dirty="0" smtClean="0"/>
              <a:t>A</a:t>
            </a:r>
            <a:r>
              <a:rPr lang="en-AU" altLang="en-US" dirty="0" smtClean="0"/>
              <a:t>, (written </a:t>
            </a:r>
            <a:r>
              <a:rPr lang="en-AU" altLang="en-US" i="1" dirty="0" smtClean="0"/>
              <a:t>A</a:t>
            </a:r>
            <a:r>
              <a:rPr lang="en-US" altLang="en-US" i="1" dirty="0" smtClean="0"/>
              <a:t>'</a:t>
            </a:r>
            <a:r>
              <a:rPr lang="en-AU" altLang="en-US" dirty="0" smtClean="0"/>
              <a:t>) is all the events which are not part of the event </a:t>
            </a:r>
            <a:r>
              <a:rPr lang="en-AU" altLang="en-US" i="1" dirty="0" smtClean="0"/>
              <a:t>A</a:t>
            </a:r>
            <a:r>
              <a:rPr lang="en-AU" altLang="en-US" dirty="0" smtClean="0"/>
              <a:t> in the sample space.</a:t>
            </a:r>
          </a:p>
          <a:p>
            <a:pPr eaLnBrk="1" hangingPunct="1"/>
            <a:r>
              <a:rPr lang="en-AU" altLang="en-US" b="1" i="1" dirty="0" smtClean="0"/>
              <a:t>Joint event</a:t>
            </a:r>
            <a:r>
              <a:rPr lang="en-AU" altLang="en-US" dirty="0" smtClean="0"/>
              <a:t> – an event that has two or more characteristics.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0C0195-B280-4B61-B575-B721A537AEE1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AU" altLang="en-US" sz="10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Some definitions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4228850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b="1" i="1" dirty="0" smtClean="0"/>
              <a:t>Contingency table</a:t>
            </a:r>
            <a:r>
              <a:rPr lang="en-AU" altLang="en-US" dirty="0" smtClean="0"/>
              <a:t> – a table of cross-classifications.</a:t>
            </a:r>
          </a:p>
          <a:p>
            <a:pPr eaLnBrk="1" hangingPunct="1"/>
            <a:r>
              <a:rPr lang="en-AU" altLang="en-US" b="1" i="1" dirty="0" smtClean="0"/>
              <a:t>Simple (marginal) probability</a:t>
            </a:r>
            <a:r>
              <a:rPr lang="en-AU" altLang="en-US" dirty="0" smtClean="0"/>
              <a:t> – the probability of occurrence of a simple event.</a:t>
            </a:r>
          </a:p>
          <a:p>
            <a:pPr eaLnBrk="1" hangingPunct="1"/>
            <a:r>
              <a:rPr lang="en-AU" altLang="en-US" b="1" i="1" dirty="0" smtClean="0"/>
              <a:t>Joint probability</a:t>
            </a:r>
            <a:r>
              <a:rPr lang="en-AU" altLang="en-US" dirty="0" smtClean="0"/>
              <a:t> – a probability referring to two or more events.</a:t>
            </a:r>
          </a:p>
          <a:p>
            <a:pPr eaLnBrk="1" hangingPunct="1"/>
            <a:r>
              <a:rPr lang="en-AU" altLang="en-US" b="1" dirty="0" smtClean="0"/>
              <a:t>Elementary event </a:t>
            </a:r>
            <a:r>
              <a:rPr lang="en-AU" altLang="en-US" dirty="0" smtClean="0"/>
              <a:t>– an event that cannot be decomposed into smaller events. A simple event may not be an elementary event.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Pictorial depictions of probability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4925144"/>
          </a:xfrm>
        </p:spPr>
        <p:txBody>
          <a:bodyPr/>
          <a:lstStyle/>
          <a:p>
            <a:r>
              <a:rPr lang="en-AU" sz="2400" b="1" dirty="0" smtClean="0"/>
              <a:t>Tree diagram </a:t>
            </a:r>
            <a:r>
              <a:rPr lang="en-AU" sz="2400" dirty="0" smtClean="0"/>
              <a:t>– It captures each possible outcome through the branch of a tree. The diagram below captures two experiments of throwing a coin twice.</a:t>
            </a:r>
          </a:p>
          <a:p>
            <a:endParaRPr lang="en-AU" sz="2400" dirty="0"/>
          </a:p>
          <a:p>
            <a:endParaRPr lang="en-AU" sz="2400" dirty="0" smtClean="0"/>
          </a:p>
          <a:p>
            <a:endParaRPr lang="en-AU" sz="2400" dirty="0"/>
          </a:p>
          <a:p>
            <a:endParaRPr lang="en-AU" sz="1000" dirty="0" smtClean="0"/>
          </a:p>
          <a:p>
            <a:r>
              <a:rPr lang="en-AU" sz="2400" b="1" dirty="0" smtClean="0"/>
              <a:t>Venn diagram </a:t>
            </a:r>
            <a:r>
              <a:rPr lang="en-AU" sz="2400" dirty="0" smtClean="0"/>
              <a:t>– Schematic diagram capturing relationships between events.</a:t>
            </a:r>
          </a:p>
          <a:p>
            <a:pPr marL="0" indent="0">
              <a:buNone/>
            </a:pPr>
            <a:endParaRPr lang="en-AU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836B5-E672-490D-BFA8-178695D9A6FB}" type="slidenum">
              <a:rPr lang="en-AU" altLang="en-US" smtClean="0"/>
              <a:pPr>
                <a:defRPr/>
              </a:pPr>
              <a:t>11</a:t>
            </a:fld>
            <a:endParaRPr lang="en-AU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852936"/>
            <a:ext cx="3273791" cy="1368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5157192"/>
            <a:ext cx="2208501" cy="12530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067944" y="5157192"/>
            <a:ext cx="36724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>
                <a:solidFill>
                  <a:srgbClr val="0070C0"/>
                </a:solidFill>
              </a:rPr>
              <a:t>Events </a:t>
            </a:r>
            <a:r>
              <a:rPr lang="en-AU" sz="2200" i="1" dirty="0" smtClean="0">
                <a:solidFill>
                  <a:srgbClr val="0070C0"/>
                </a:solidFill>
              </a:rPr>
              <a:t>A</a:t>
            </a:r>
            <a:r>
              <a:rPr lang="en-AU" sz="2200" dirty="0" smtClean="0">
                <a:solidFill>
                  <a:srgbClr val="0070C0"/>
                </a:solidFill>
              </a:rPr>
              <a:t>, </a:t>
            </a:r>
            <a:r>
              <a:rPr lang="en-AU" sz="2200" i="1" dirty="0" smtClean="0">
                <a:solidFill>
                  <a:srgbClr val="0070C0"/>
                </a:solidFill>
              </a:rPr>
              <a:t>B</a:t>
            </a:r>
            <a:r>
              <a:rPr lang="en-AU" sz="2200" dirty="0" smtClean="0">
                <a:solidFill>
                  <a:srgbClr val="0070C0"/>
                </a:solidFill>
              </a:rPr>
              <a:t> and their intersection in a rectangular sample space.</a:t>
            </a:r>
            <a:endParaRPr lang="en-AU" sz="2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774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Tabular presentation of probability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A contingency table can describe probabilities in a tabular form. It can be in numbers of observations made (given in next slide) or in probability values as given below:</a:t>
            </a:r>
          </a:p>
          <a:p>
            <a:pPr marL="0" indent="0">
              <a:buNone/>
            </a:pPr>
            <a:r>
              <a:rPr lang="en-AU" sz="2000" dirty="0" smtClean="0">
                <a:solidFill>
                  <a:srgbClr val="0070C0"/>
                </a:solidFill>
              </a:rPr>
              <a:t>                                                 </a:t>
            </a:r>
            <a:r>
              <a:rPr lang="en-AU" sz="2200" dirty="0" smtClean="0">
                <a:solidFill>
                  <a:srgbClr val="0070C0"/>
                </a:solidFill>
              </a:rPr>
              <a:t>[</a:t>
            </a:r>
            <a:r>
              <a:rPr lang="en-AU" sz="2200" i="1" dirty="0" smtClean="0">
                <a:solidFill>
                  <a:srgbClr val="0070C0"/>
                </a:solidFill>
              </a:rPr>
              <a:t>P</a:t>
            </a:r>
            <a:r>
              <a:rPr lang="en-AU" sz="2200" dirty="0" smtClean="0">
                <a:solidFill>
                  <a:srgbClr val="0070C0"/>
                </a:solidFill>
              </a:rPr>
              <a:t>(</a:t>
            </a:r>
            <a:r>
              <a:rPr lang="en-AU" sz="2200" i="1" dirty="0" smtClean="0">
                <a:solidFill>
                  <a:srgbClr val="0070C0"/>
                </a:solidFill>
              </a:rPr>
              <a:t>XA</a:t>
            </a:r>
            <a:r>
              <a:rPr lang="en-AU" sz="2200" dirty="0" smtClean="0">
                <a:solidFill>
                  <a:srgbClr val="0070C0"/>
                </a:solidFill>
              </a:rPr>
              <a:t>) = Probability of </a:t>
            </a:r>
            <a:r>
              <a:rPr lang="en-AU" sz="2200" i="1" dirty="0" smtClean="0">
                <a:solidFill>
                  <a:srgbClr val="0070C0"/>
                </a:solidFill>
              </a:rPr>
              <a:t>X </a:t>
            </a:r>
            <a:r>
              <a:rPr lang="en-AU" sz="2200" dirty="0" smtClean="0">
                <a:solidFill>
                  <a:srgbClr val="0070C0"/>
                </a:solidFill>
              </a:rPr>
              <a:t>and </a:t>
            </a:r>
            <a:r>
              <a:rPr lang="en-AU" sz="2200" i="1" dirty="0" smtClean="0">
                <a:solidFill>
                  <a:srgbClr val="0070C0"/>
                </a:solidFill>
              </a:rPr>
              <a:t>A.</a:t>
            </a:r>
            <a:r>
              <a:rPr lang="en-AU" sz="2200" dirty="0" smtClean="0">
                <a:solidFill>
                  <a:srgbClr val="0070C0"/>
                </a:solidFill>
              </a:rPr>
              <a:t>]</a:t>
            </a:r>
            <a:endParaRPr lang="en-AU" sz="22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836B5-E672-490D-BFA8-178695D9A6FB}" type="slidenum">
              <a:rPr lang="en-AU" altLang="en-US" smtClean="0"/>
              <a:pPr>
                <a:defRPr/>
              </a:pPr>
              <a:t>12</a:t>
            </a:fld>
            <a:endParaRPr lang="en-AU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4005064"/>
            <a:ext cx="7870843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431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566C9E4-3706-4498-B0F8-5620D39F2AF0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AU" altLang="en-US" sz="10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Example 4-1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557338"/>
            <a:ext cx="8424863" cy="2312987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A store manager is interested in whether repeat customers spend more money in his store than do first-time customers.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He takes a random sample of 200 customers over a one month period with the following results:</a:t>
            </a:r>
          </a:p>
        </p:txBody>
      </p:sp>
      <p:graphicFrame>
        <p:nvGraphicFramePr>
          <p:cNvPr id="141502" name="Group 190"/>
          <p:cNvGraphicFramePr>
            <a:graphicFrameLocks noGrp="1"/>
          </p:cNvGraphicFramePr>
          <p:nvPr>
            <p:ph sz="half" idx="2"/>
          </p:nvPr>
        </p:nvGraphicFramePr>
        <p:xfrm>
          <a:off x="900113" y="4076700"/>
          <a:ext cx="7585075" cy="1760538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2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customer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Spent $200 or less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Spent over $200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5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4F1793-5681-488D-A124-36FDF901363F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AU" altLang="en-US" sz="10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Example 4-1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981200"/>
            <a:ext cx="8086725" cy="4108450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(a) Give an example of a simple event.</a:t>
            </a:r>
          </a:p>
          <a:p>
            <a:pPr eaLnBrk="1" hangingPunct="1"/>
            <a:r>
              <a:rPr lang="en-AU" altLang="en-US" smtClean="0"/>
              <a:t>“spent $200 or less”</a:t>
            </a:r>
          </a:p>
          <a:p>
            <a:pPr eaLnBrk="1" hangingPunct="1"/>
            <a:r>
              <a:rPr lang="en-AU" altLang="en-US" smtClean="0"/>
              <a:t>“is a new customer”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(b) Give an example of a joint event.</a:t>
            </a:r>
          </a:p>
          <a:p>
            <a:pPr eaLnBrk="1" hangingPunct="1"/>
            <a:r>
              <a:rPr lang="en-AU" altLang="en-US" smtClean="0"/>
              <a:t>“a new customer who spent more than $200”</a:t>
            </a:r>
          </a:p>
          <a:p>
            <a:pPr eaLnBrk="1" hangingPunct="1"/>
            <a:r>
              <a:rPr lang="en-AU" altLang="en-US" smtClean="0"/>
              <a:t>“a new customer who spent $200 or less”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(c) What is the complement of “new customer”? </a:t>
            </a:r>
          </a:p>
          <a:p>
            <a:pPr eaLnBrk="1" hangingPunct="1"/>
            <a:r>
              <a:rPr lang="en-AU" altLang="en-US" smtClean="0"/>
              <a:t>“is not a new customer”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689357-FE11-4651-B6A8-FC168F2B2964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AU" altLang="en-US" sz="100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dirty="0" smtClean="0">
                <a:solidFill>
                  <a:schemeClr val="hlink"/>
                </a:solidFill>
              </a:rPr>
              <a:t>Example 4-1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4659737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dirty="0" smtClean="0"/>
              <a:t>(d) Why is “new customer who spent over $200” a joint event?</a:t>
            </a:r>
          </a:p>
          <a:p>
            <a:pPr eaLnBrk="1" hangingPunct="1"/>
            <a:r>
              <a:rPr lang="en-AU" altLang="en-US" dirty="0" smtClean="0"/>
              <a:t>Joint events have two or more characteristics: “new customer” and “spent over $200”</a:t>
            </a:r>
          </a:p>
          <a:p>
            <a:pPr marL="0" indent="0" eaLnBrk="1" hangingPunct="1">
              <a:buNone/>
            </a:pPr>
            <a:r>
              <a:rPr lang="en-AU" altLang="en-US" dirty="0" smtClean="0"/>
              <a:t>(e) How can the simple event “Spent $200 or less” can be broken down into elementary events?</a:t>
            </a:r>
          </a:p>
          <a:p>
            <a:pPr eaLnBrk="1" hangingPunct="1"/>
            <a:r>
              <a:rPr lang="en-AU" altLang="en-US" dirty="0" smtClean="0"/>
              <a:t>Simple event “Spent $200 or less” can be broken down into “Spent $200”, “Spent $190”, 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7B24DA-EF49-439F-98B7-33A0E397F802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AU" altLang="en-US" sz="10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Example 4-1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7570788" cy="1458913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If a customer is selected at random, what is the probability that he or she: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(e) is a new customer? </a:t>
            </a:r>
          </a:p>
        </p:txBody>
      </p:sp>
      <p:graphicFrame>
        <p:nvGraphicFramePr>
          <p:cNvPr id="145412" name="Object 4"/>
          <p:cNvGraphicFramePr>
            <a:graphicFrameLocks noChangeAspect="1"/>
          </p:cNvGraphicFramePr>
          <p:nvPr/>
        </p:nvGraphicFramePr>
        <p:xfrm>
          <a:off x="1916113" y="3068638"/>
          <a:ext cx="4483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5" name="Equation" r:id="rId3" imgW="4483100" imgH="838200" progId="Equation.DSMT4">
                  <p:embed/>
                </p:oleObj>
              </mc:Choice>
              <mc:Fallback>
                <p:oleObj name="Equation" r:id="rId3" imgW="4483100" imgH="838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3068638"/>
                        <a:ext cx="4483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47" name="Group 39"/>
          <p:cNvGraphicFramePr>
            <a:graphicFrameLocks noGrp="1"/>
          </p:cNvGraphicFramePr>
          <p:nvPr>
            <p:ph sz="half" idx="2"/>
          </p:nvPr>
        </p:nvGraphicFramePr>
        <p:xfrm>
          <a:off x="755650" y="4071938"/>
          <a:ext cx="7777163" cy="2052638"/>
        </p:xfrm>
        <a:graphic>
          <a:graphicData uri="http://schemas.openxmlformats.org/drawingml/2006/table">
            <a:tbl>
              <a:tblPr/>
              <a:tblGrid>
                <a:gridCol w="203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customer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Spent $200 or less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Spent over $200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5443" name="AutoShape 35"/>
          <p:cNvSpPr>
            <a:spLocks noChangeArrowheads="1"/>
          </p:cNvSpPr>
          <p:nvPr/>
        </p:nvSpPr>
        <p:spPr bwMode="auto">
          <a:xfrm>
            <a:off x="611188" y="4797425"/>
            <a:ext cx="7848600" cy="431800"/>
          </a:xfrm>
          <a:prstGeom prst="flowChartTerminator">
            <a:avLst/>
          </a:prstGeom>
          <a:noFill/>
          <a:ln w="254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45444" name="Oval 36"/>
          <p:cNvSpPr>
            <a:spLocks noChangeArrowheads="1"/>
          </p:cNvSpPr>
          <p:nvPr/>
        </p:nvSpPr>
        <p:spPr bwMode="auto">
          <a:xfrm>
            <a:off x="7667625" y="5661025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45445" name="Oval 37"/>
          <p:cNvSpPr>
            <a:spLocks noChangeArrowheads="1"/>
          </p:cNvSpPr>
          <p:nvPr/>
        </p:nvSpPr>
        <p:spPr bwMode="auto">
          <a:xfrm>
            <a:off x="7669213" y="4724400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43" grpId="0" animBg="1"/>
      <p:bldP spid="145444" grpId="0" animBg="1"/>
      <p:bldP spid="14544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EFFDF07-2631-42BA-878A-119026562036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AU" altLang="en-US" sz="100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Example 4-1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720850"/>
            <a:ext cx="7570788" cy="519113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(f) spent $200 or less? </a:t>
            </a:r>
          </a:p>
        </p:txBody>
      </p:sp>
      <p:graphicFrame>
        <p:nvGraphicFramePr>
          <p:cNvPr id="148484" name="Object 4"/>
          <p:cNvGraphicFramePr>
            <a:graphicFrameLocks noChangeAspect="1"/>
          </p:cNvGraphicFramePr>
          <p:nvPr/>
        </p:nvGraphicFramePr>
        <p:xfrm>
          <a:off x="1503363" y="2517775"/>
          <a:ext cx="5041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9" name="Equation" r:id="rId3" imgW="5041900" imgH="838200" progId="Equation.DSMT4">
                  <p:embed/>
                </p:oleObj>
              </mc:Choice>
              <mc:Fallback>
                <p:oleObj name="Equation" r:id="rId3" imgW="5041900" imgH="838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363" y="2517775"/>
                        <a:ext cx="5041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15" name="Group 35"/>
          <p:cNvGraphicFramePr>
            <a:graphicFrameLocks noGrp="1"/>
          </p:cNvGraphicFramePr>
          <p:nvPr>
            <p:ph sz="half" idx="2"/>
          </p:nvPr>
        </p:nvGraphicFramePr>
        <p:xfrm>
          <a:off x="900113" y="4071938"/>
          <a:ext cx="7632700" cy="2052638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1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customer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Spent $200 or less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Spent over $200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8511" name="AutoShape 31"/>
          <p:cNvSpPr>
            <a:spLocks noChangeArrowheads="1"/>
          </p:cNvSpPr>
          <p:nvPr/>
        </p:nvSpPr>
        <p:spPr bwMode="auto">
          <a:xfrm rot="5400000">
            <a:off x="3059906" y="3861595"/>
            <a:ext cx="2232025" cy="2519362"/>
          </a:xfrm>
          <a:prstGeom prst="flowChartTerminator">
            <a:avLst/>
          </a:prstGeom>
          <a:noFill/>
          <a:ln w="254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48512" name="Oval 32"/>
          <p:cNvSpPr>
            <a:spLocks noChangeArrowheads="1"/>
          </p:cNvSpPr>
          <p:nvPr/>
        </p:nvSpPr>
        <p:spPr bwMode="auto">
          <a:xfrm>
            <a:off x="7667625" y="5661025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48513" name="Oval 33"/>
          <p:cNvSpPr>
            <a:spLocks noChangeArrowheads="1"/>
          </p:cNvSpPr>
          <p:nvPr/>
        </p:nvSpPr>
        <p:spPr bwMode="auto">
          <a:xfrm>
            <a:off x="3779838" y="5661025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511" grpId="0" animBg="1"/>
      <p:bldP spid="148512" grpId="0" animBg="1"/>
      <p:bldP spid="1485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3D8953-E5FD-47AF-86CC-74AA1BFF0834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AU" altLang="en-US" sz="10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Example 4-1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557338"/>
            <a:ext cx="8208962" cy="519112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(g) is not a new customer and spent over $200? </a:t>
            </a:r>
          </a:p>
        </p:txBody>
      </p:sp>
      <p:graphicFrame>
        <p:nvGraphicFramePr>
          <p:cNvPr id="149508" name="Object 4"/>
          <p:cNvGraphicFramePr>
            <a:graphicFrameLocks noChangeAspect="1"/>
          </p:cNvGraphicFramePr>
          <p:nvPr/>
        </p:nvGraphicFramePr>
        <p:xfrm>
          <a:off x="1271588" y="2276475"/>
          <a:ext cx="62865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4" name="Equation" r:id="rId3" imgW="6286500" imgH="1447800" progId="Equation.DSMT4">
                  <p:embed/>
                </p:oleObj>
              </mc:Choice>
              <mc:Fallback>
                <p:oleObj name="Equation" r:id="rId3" imgW="6286500" imgH="1447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588" y="2276475"/>
                        <a:ext cx="62865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40" name="Group 36"/>
          <p:cNvGraphicFramePr>
            <a:graphicFrameLocks noGrp="1"/>
          </p:cNvGraphicFramePr>
          <p:nvPr>
            <p:ph sz="half" idx="2"/>
          </p:nvPr>
        </p:nvGraphicFramePr>
        <p:xfrm>
          <a:off x="827088" y="4071938"/>
          <a:ext cx="7705725" cy="2052638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4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customer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Spent $200 or less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Spent over $200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9535" name="AutoShape 31"/>
          <p:cNvSpPr>
            <a:spLocks noChangeArrowheads="1"/>
          </p:cNvSpPr>
          <p:nvPr/>
        </p:nvSpPr>
        <p:spPr bwMode="auto">
          <a:xfrm>
            <a:off x="755650" y="5229225"/>
            <a:ext cx="7848600" cy="431800"/>
          </a:xfrm>
          <a:prstGeom prst="flowChartTerminator">
            <a:avLst/>
          </a:prstGeom>
          <a:noFill/>
          <a:ln w="254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49536" name="Oval 32"/>
          <p:cNvSpPr>
            <a:spLocks noChangeArrowheads="1"/>
          </p:cNvSpPr>
          <p:nvPr/>
        </p:nvSpPr>
        <p:spPr bwMode="auto">
          <a:xfrm>
            <a:off x="7667625" y="5661025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49537" name="Oval 33"/>
          <p:cNvSpPr>
            <a:spLocks noChangeArrowheads="1"/>
          </p:cNvSpPr>
          <p:nvPr/>
        </p:nvSpPr>
        <p:spPr bwMode="auto">
          <a:xfrm>
            <a:off x="6156325" y="5157788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49538" name="AutoShape 34"/>
          <p:cNvSpPr>
            <a:spLocks noChangeArrowheads="1"/>
          </p:cNvSpPr>
          <p:nvPr/>
        </p:nvSpPr>
        <p:spPr bwMode="auto">
          <a:xfrm rot="5400000">
            <a:off x="5364163" y="4005263"/>
            <a:ext cx="2160587" cy="2160587"/>
          </a:xfrm>
          <a:prstGeom prst="flowChartTerminator">
            <a:avLst/>
          </a:prstGeom>
          <a:noFill/>
          <a:ln w="254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9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35" grpId="0" animBg="1"/>
      <p:bldP spid="149536" grpId="0" animBg="1"/>
      <p:bldP spid="149537" grpId="0" animBg="1"/>
      <p:bldP spid="14953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8CECD1-FE40-4DDE-AF0C-D307FE6C2227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AU" altLang="en-US" sz="10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Example 4-1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4063" y="1557338"/>
            <a:ext cx="8066087" cy="519112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(h) is not a new customer or spent over $200? </a:t>
            </a:r>
          </a:p>
        </p:txBody>
      </p:sp>
      <p:graphicFrame>
        <p:nvGraphicFramePr>
          <p:cNvPr id="150532" name="Object 4"/>
          <p:cNvGraphicFramePr>
            <a:graphicFrameLocks noChangeAspect="1"/>
          </p:cNvGraphicFramePr>
          <p:nvPr/>
        </p:nvGraphicFramePr>
        <p:xfrm>
          <a:off x="1379538" y="2320925"/>
          <a:ext cx="60706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9" name="Equation" r:id="rId3" imgW="6070600" imgH="1447800" progId="Equation.DSMT4">
                  <p:embed/>
                </p:oleObj>
              </mc:Choice>
              <mc:Fallback>
                <p:oleObj name="Equation" r:id="rId3" imgW="6070600" imgH="1447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538" y="2320925"/>
                        <a:ext cx="60706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66" name="Group 38"/>
          <p:cNvGraphicFramePr>
            <a:graphicFrameLocks noGrp="1"/>
          </p:cNvGraphicFramePr>
          <p:nvPr>
            <p:ph sz="half" idx="2"/>
          </p:nvPr>
        </p:nvGraphicFramePr>
        <p:xfrm>
          <a:off x="827088" y="4071938"/>
          <a:ext cx="7705725" cy="2052638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4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customer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Spent $200 or less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Spent over $200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0559" name="AutoShape 31"/>
          <p:cNvSpPr>
            <a:spLocks noChangeArrowheads="1"/>
          </p:cNvSpPr>
          <p:nvPr/>
        </p:nvSpPr>
        <p:spPr bwMode="auto">
          <a:xfrm>
            <a:off x="755650" y="5229225"/>
            <a:ext cx="7848600" cy="431800"/>
          </a:xfrm>
          <a:prstGeom prst="flowChartTerminator">
            <a:avLst/>
          </a:prstGeom>
          <a:noFill/>
          <a:ln w="254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50561" name="Oval 33"/>
          <p:cNvSpPr>
            <a:spLocks noChangeArrowheads="1"/>
          </p:cNvSpPr>
          <p:nvPr/>
        </p:nvSpPr>
        <p:spPr bwMode="auto">
          <a:xfrm>
            <a:off x="6156325" y="5157788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50562" name="AutoShape 34"/>
          <p:cNvSpPr>
            <a:spLocks noChangeArrowheads="1"/>
          </p:cNvSpPr>
          <p:nvPr/>
        </p:nvSpPr>
        <p:spPr bwMode="auto">
          <a:xfrm rot="5400000">
            <a:off x="5364163" y="4076700"/>
            <a:ext cx="2160588" cy="2160587"/>
          </a:xfrm>
          <a:prstGeom prst="flowChartTerminator">
            <a:avLst/>
          </a:prstGeom>
          <a:noFill/>
          <a:ln w="254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50563" name="Oval 35"/>
          <p:cNvSpPr>
            <a:spLocks noChangeArrowheads="1"/>
          </p:cNvSpPr>
          <p:nvPr/>
        </p:nvSpPr>
        <p:spPr bwMode="auto">
          <a:xfrm>
            <a:off x="6156325" y="5662613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50564" name="Oval 36"/>
          <p:cNvSpPr>
            <a:spLocks noChangeArrowheads="1"/>
          </p:cNvSpPr>
          <p:nvPr/>
        </p:nvSpPr>
        <p:spPr bwMode="auto">
          <a:xfrm>
            <a:off x="7740650" y="5157788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0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59" grpId="0" animBg="1"/>
      <p:bldP spid="150561" grpId="0" animBg="1"/>
      <p:bldP spid="150562" grpId="0" animBg="1"/>
      <p:bldP spid="150563" grpId="0" animBg="1"/>
      <p:bldP spid="15056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524967-F68D-4B1E-AB92-C52103AB7038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AU" altLang="en-US" sz="10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z="3800" smtClean="0">
                <a:solidFill>
                  <a:schemeClr val="hlink"/>
                </a:solidFill>
              </a:rPr>
              <a:t>Example 4-1 – alternative view for (h)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2625" y="1557338"/>
            <a:ext cx="7921625" cy="519112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(h) is not a new customer or spent over $200? </a:t>
            </a:r>
          </a:p>
        </p:txBody>
      </p:sp>
      <p:graphicFrame>
        <p:nvGraphicFramePr>
          <p:cNvPr id="152580" name="Object 4"/>
          <p:cNvGraphicFramePr>
            <a:graphicFrameLocks noChangeAspect="1"/>
          </p:cNvGraphicFramePr>
          <p:nvPr/>
        </p:nvGraphicFramePr>
        <p:xfrm>
          <a:off x="1379538" y="2320925"/>
          <a:ext cx="60706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3" name="Equation" r:id="rId3" imgW="6070600" imgH="1447800" progId="Equation.DSMT4">
                  <p:embed/>
                </p:oleObj>
              </mc:Choice>
              <mc:Fallback>
                <p:oleObj name="Equation" r:id="rId3" imgW="6070600" imgH="1447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538" y="2320925"/>
                        <a:ext cx="60706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613" name="Group 37"/>
          <p:cNvGraphicFramePr>
            <a:graphicFrameLocks noGrp="1"/>
          </p:cNvGraphicFramePr>
          <p:nvPr>
            <p:ph sz="half" idx="2"/>
          </p:nvPr>
        </p:nvGraphicFramePr>
        <p:xfrm>
          <a:off x="827088" y="4071938"/>
          <a:ext cx="7705725" cy="2052638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4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customer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Spent $200 or less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Spent over $200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2607" name="AutoShape 31"/>
          <p:cNvSpPr>
            <a:spLocks noChangeArrowheads="1"/>
          </p:cNvSpPr>
          <p:nvPr/>
        </p:nvSpPr>
        <p:spPr bwMode="auto">
          <a:xfrm>
            <a:off x="684213" y="5229225"/>
            <a:ext cx="7848600" cy="431800"/>
          </a:xfrm>
          <a:prstGeom prst="flowChartTerminator">
            <a:avLst/>
          </a:prstGeom>
          <a:noFill/>
          <a:ln w="254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52608" name="Oval 32"/>
          <p:cNvSpPr>
            <a:spLocks noChangeArrowheads="1"/>
          </p:cNvSpPr>
          <p:nvPr/>
        </p:nvSpPr>
        <p:spPr bwMode="auto">
          <a:xfrm>
            <a:off x="6156325" y="5229225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52609" name="AutoShape 33"/>
          <p:cNvSpPr>
            <a:spLocks noChangeArrowheads="1"/>
          </p:cNvSpPr>
          <p:nvPr/>
        </p:nvSpPr>
        <p:spPr bwMode="auto">
          <a:xfrm rot="5400000">
            <a:off x="5399882" y="4040981"/>
            <a:ext cx="2089150" cy="2160587"/>
          </a:xfrm>
          <a:prstGeom prst="flowChartTerminator">
            <a:avLst/>
          </a:prstGeom>
          <a:noFill/>
          <a:ln w="254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52610" name="Oval 34"/>
          <p:cNvSpPr>
            <a:spLocks noChangeArrowheads="1"/>
          </p:cNvSpPr>
          <p:nvPr/>
        </p:nvSpPr>
        <p:spPr bwMode="auto">
          <a:xfrm>
            <a:off x="3779838" y="5229225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52611" name="Oval 35"/>
          <p:cNvSpPr>
            <a:spLocks noChangeArrowheads="1"/>
          </p:cNvSpPr>
          <p:nvPr/>
        </p:nvSpPr>
        <p:spPr bwMode="auto">
          <a:xfrm>
            <a:off x="6156325" y="4724400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607" grpId="0" animBg="1"/>
      <p:bldP spid="152608" grpId="0" animBg="1"/>
      <p:bldP spid="152609" grpId="0" animBg="1"/>
      <p:bldP spid="152610" grpId="0" animBg="1"/>
      <p:bldP spid="1526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808F11-6A9A-47AB-9844-EF2CD5E2596F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AU" altLang="en-US" sz="10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Example 4-1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662113"/>
            <a:ext cx="8229600" cy="4791075"/>
          </a:xfrm>
          <a:noFill/>
        </p:spPr>
        <p:txBody>
          <a:bodyPr>
            <a:spAutoFit/>
          </a:bodyPr>
          <a:lstStyle/>
          <a:p>
            <a:pPr marL="660400" indent="-660400" eaLnBrk="1" hangingPunct="1">
              <a:buSzTx/>
              <a:buFont typeface="Wingdings" panose="05000000000000000000" pitchFamily="2" charset="2"/>
              <a:buAutoNum type="romanLcParenBoth"/>
            </a:pPr>
            <a:r>
              <a:rPr lang="en-AU" altLang="en-US" smtClean="0"/>
              <a:t>Explain the difference between your answers to (g) and (h).</a:t>
            </a:r>
          </a:p>
          <a:p>
            <a:pPr marL="660400" indent="-660400"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(g) is not a new customer </a:t>
            </a:r>
            <a:r>
              <a:rPr lang="en-AU" altLang="en-US" b="1" i="1" smtClean="0"/>
              <a:t>and</a:t>
            </a:r>
            <a:r>
              <a:rPr lang="en-AU" altLang="en-US" smtClean="0"/>
              <a:t> spent over $200?</a:t>
            </a:r>
          </a:p>
          <a:p>
            <a:pPr marL="660400" indent="-660400"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(h) is not a new customer </a:t>
            </a:r>
            <a:r>
              <a:rPr lang="en-AU" altLang="en-US" b="1" i="1" smtClean="0"/>
              <a:t>or</a:t>
            </a:r>
            <a:r>
              <a:rPr lang="en-AU" altLang="en-US" smtClean="0"/>
              <a:t> spent over $200?</a:t>
            </a:r>
          </a:p>
          <a:p>
            <a:pPr marL="660400" indent="-660400" eaLnBrk="1" hangingPunct="1"/>
            <a:r>
              <a:rPr lang="en-AU" altLang="en-US" smtClean="0"/>
              <a:t>“and” – look at only one cell in the table where both events occur</a:t>
            </a:r>
          </a:p>
          <a:p>
            <a:pPr marL="660400" indent="-660400" eaLnBrk="1" hangingPunct="1"/>
            <a:r>
              <a:rPr lang="en-AU" altLang="en-US" smtClean="0"/>
              <a:t>“or” – look at row and column totals and subtract the intersection (so that these customers are not counted twice)</a:t>
            </a:r>
          </a:p>
          <a:p>
            <a:pPr marL="660400" indent="-660400" eaLnBrk="1" hangingPunct="1"/>
            <a:r>
              <a:rPr lang="en-AU" altLang="en-US" smtClean="0"/>
              <a:t>alternative view of “or” – add up three cells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E9F9245-080F-4F0F-B219-DF8EA6130703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AU" altLang="en-US" sz="10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General addition rule</a:t>
            </a:r>
          </a:p>
        </p:txBody>
      </p:sp>
      <p:graphicFrame>
        <p:nvGraphicFramePr>
          <p:cNvPr id="24580" name="Object 5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319213" y="1870075"/>
          <a:ext cx="58277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6" name="Equation" r:id="rId3" imgW="6210300" imgH="520700" progId="Equation.DSMT4">
                  <p:embed/>
                </p:oleObj>
              </mc:Choice>
              <mc:Fallback>
                <p:oleObj name="Equation" r:id="rId3" imgW="6210300" imgH="520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13" y="1870075"/>
                        <a:ext cx="5827712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1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792288" y="3646488"/>
          <a:ext cx="67818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7" name="Equation" r:id="rId5" imgW="7226300" imgH="1181100" progId="Equation.DSMT4">
                  <p:embed/>
                </p:oleObj>
              </mc:Choice>
              <mc:Fallback>
                <p:oleObj name="Equation" r:id="rId5" imgW="7226300" imgH="1181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2288" y="3646488"/>
                        <a:ext cx="678180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3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776413" y="4891088"/>
          <a:ext cx="481647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8" name="Equation" r:id="rId7" imgW="5130800" imgH="889000" progId="Equation.DSMT4">
                  <p:embed/>
                </p:oleObj>
              </mc:Choice>
              <mc:Fallback>
                <p:oleObj name="Equation" r:id="rId7" imgW="5130800" imgH="889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3" y="4891088"/>
                        <a:ext cx="4816475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5" name="Object 11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1319213" y="2998788"/>
          <a:ext cx="61023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9" name="Equation" r:id="rId9" imgW="6502400" imgH="520700" progId="Equation.DSMT4">
                  <p:embed/>
                </p:oleObj>
              </mc:Choice>
              <mc:Fallback>
                <p:oleObj name="Equation" r:id="rId9" imgW="6502400" imgH="5207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13" y="2998788"/>
                        <a:ext cx="61023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D49B07-CDC1-497A-85A3-5D130B17FBF1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AU" altLang="en-US" sz="100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73025" y="476250"/>
            <a:ext cx="9036050" cy="874713"/>
          </a:xfrm>
        </p:spPr>
        <p:txBody>
          <a:bodyPr/>
          <a:lstStyle/>
          <a:p>
            <a:pPr eaLnBrk="1" hangingPunct="1"/>
            <a:r>
              <a:rPr lang="en-AU" altLang="en-US" smtClean="0"/>
              <a:t>Addition rule: mutually exclusive events</a:t>
            </a:r>
          </a:p>
        </p:txBody>
      </p:sp>
      <p:graphicFrame>
        <p:nvGraphicFramePr>
          <p:cNvPr id="25604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2470150" y="2139950"/>
          <a:ext cx="37877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name="Equation" r:id="rId3" imgW="4038600" imgH="520700" progId="Equation.DSMT4">
                  <p:embed/>
                </p:oleObj>
              </mc:Choice>
              <mc:Fallback>
                <p:oleObj name="Equation" r:id="rId3" imgW="4038600" imgH="520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2139950"/>
                        <a:ext cx="378777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10"/>
          <p:cNvGraphicFramePr>
            <a:graphicFrameLocks noGrp="1" noChangeAspect="1"/>
          </p:cNvGraphicFramePr>
          <p:nvPr>
            <p:ph sz="half" idx="2"/>
          </p:nvPr>
        </p:nvGraphicFramePr>
        <p:xfrm>
          <a:off x="2943225" y="3695700"/>
          <a:ext cx="308133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Equation" r:id="rId5" imgW="3276600" imgH="520700" progId="Equation.DSMT4">
                  <p:embed/>
                </p:oleObj>
              </mc:Choice>
              <mc:Fallback>
                <p:oleObj name="Equation" r:id="rId5" imgW="3276600" imgH="5207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3695700"/>
                        <a:ext cx="3081338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BBC22C-362F-47B3-A9CC-580DFEB0FAE8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AU" altLang="en-US" sz="10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Conditional probability</a:t>
            </a:r>
          </a:p>
        </p:txBody>
      </p:sp>
      <p:graphicFrame>
        <p:nvGraphicFramePr>
          <p:cNvPr id="26628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2943225" y="2276475"/>
          <a:ext cx="327660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" name="Equation" r:id="rId3" imgW="3492500" imgH="1079500" progId="Equation.DSMT4">
                  <p:embed/>
                </p:oleObj>
              </mc:Choice>
              <mc:Fallback>
                <p:oleObj name="Equation" r:id="rId3" imgW="3492500" imgH="1079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2276475"/>
                        <a:ext cx="327660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26" name="Object 10"/>
          <p:cNvGraphicFramePr>
            <a:graphicFrameLocks noGrp="1" noChangeAspect="1"/>
          </p:cNvGraphicFramePr>
          <p:nvPr>
            <p:ph sz="half" idx="2"/>
          </p:nvPr>
        </p:nvGraphicFramePr>
        <p:xfrm>
          <a:off x="2943225" y="3965575"/>
          <a:ext cx="32766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" name="Equation" r:id="rId5" imgW="3492500" imgH="1079500" progId="Equation.DSMT4">
                  <p:embed/>
                </p:oleObj>
              </mc:Choice>
              <mc:Fallback>
                <p:oleObj name="Equation" r:id="rId5" imgW="3492500" imgH="10795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3965575"/>
                        <a:ext cx="3276600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577313-DBD4-4843-9BC4-371D37BF942E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AU" altLang="en-US" sz="100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Statistical independence</a:t>
            </a:r>
          </a:p>
        </p:txBody>
      </p:sp>
      <p:graphicFrame>
        <p:nvGraphicFramePr>
          <p:cNvPr id="27652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3414713" y="2682875"/>
          <a:ext cx="2290762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2" name="Equation" r:id="rId3" imgW="2438400" imgH="571500" progId="Equation.DSMT4">
                  <p:embed/>
                </p:oleObj>
              </mc:Choice>
              <mc:Fallback>
                <p:oleObj name="Equation" r:id="rId3" imgW="2438400" imgH="571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713" y="2682875"/>
                        <a:ext cx="2290762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755650" y="1690688"/>
            <a:ext cx="74882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AU" altLang="en-US"/>
              <a:t>Two events are statistically independent if and only if</a:t>
            </a:r>
          </a:p>
        </p:txBody>
      </p:sp>
      <p:sp>
        <p:nvSpPr>
          <p:cNvPr id="164871" name="Rectangle 7"/>
          <p:cNvSpPr>
            <a:spLocks noChangeArrowheads="1"/>
          </p:cNvSpPr>
          <p:nvPr/>
        </p:nvSpPr>
        <p:spPr bwMode="auto">
          <a:xfrm>
            <a:off x="755650" y="4067175"/>
            <a:ext cx="8280400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4200">
                <a:solidFill>
                  <a:schemeClr val="tx2"/>
                </a:solidFill>
                <a:latin typeface="Times New Roman" panose="02020603050405020304" pitchFamily="18" charset="0"/>
              </a:rPr>
              <a:t>General multiplication rule</a:t>
            </a:r>
          </a:p>
        </p:txBody>
      </p:sp>
      <p:graphicFrame>
        <p:nvGraphicFramePr>
          <p:cNvPr id="164872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2603500" y="5046663"/>
          <a:ext cx="3814763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3" name="Equation" r:id="rId5" imgW="4318000" imgH="571500" progId="Equation.DSMT4">
                  <p:embed/>
                </p:oleObj>
              </mc:Choice>
              <mc:Fallback>
                <p:oleObj name="Equation" r:id="rId5" imgW="4318000" imgH="571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5046663"/>
                        <a:ext cx="3814763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4FEFE8-B1B3-4F37-B4C3-24980033AE99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AU" altLang="en-US" sz="100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Example 4-2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7570788" cy="1373188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(a) Given that a customer spent over $200, what is the probability that he or she is a new customer? </a:t>
            </a:r>
          </a:p>
        </p:txBody>
      </p:sp>
      <p:graphicFrame>
        <p:nvGraphicFramePr>
          <p:cNvPr id="167940" name="Object 4"/>
          <p:cNvGraphicFramePr>
            <a:graphicFrameLocks noChangeAspect="1"/>
          </p:cNvGraphicFramePr>
          <p:nvPr/>
        </p:nvGraphicFramePr>
        <p:xfrm>
          <a:off x="971550" y="2997200"/>
          <a:ext cx="713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5" name="Equation" r:id="rId3" imgW="7137400" imgH="838200" progId="Equation.DSMT4">
                  <p:embed/>
                </p:oleObj>
              </mc:Choice>
              <mc:Fallback>
                <p:oleObj name="Equation" r:id="rId3" imgW="7137400" imgH="838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997200"/>
                        <a:ext cx="7137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71" name="Group 35"/>
          <p:cNvGraphicFramePr>
            <a:graphicFrameLocks noGrp="1"/>
          </p:cNvGraphicFramePr>
          <p:nvPr>
            <p:ph sz="half" idx="2"/>
          </p:nvPr>
        </p:nvGraphicFramePr>
        <p:xfrm>
          <a:off x="827088" y="4071938"/>
          <a:ext cx="7632700" cy="2052638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1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customer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Spent $200 or less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Spent over $200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7967" name="AutoShape 31"/>
          <p:cNvSpPr>
            <a:spLocks noChangeArrowheads="1"/>
          </p:cNvSpPr>
          <p:nvPr/>
        </p:nvSpPr>
        <p:spPr bwMode="auto">
          <a:xfrm rot="5400000">
            <a:off x="5364163" y="4076700"/>
            <a:ext cx="2160588" cy="2160587"/>
          </a:xfrm>
          <a:prstGeom prst="flowChartTerminator">
            <a:avLst/>
          </a:prstGeom>
          <a:noFill/>
          <a:ln w="254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67968" name="Oval 32"/>
          <p:cNvSpPr>
            <a:spLocks noChangeArrowheads="1"/>
          </p:cNvSpPr>
          <p:nvPr/>
        </p:nvSpPr>
        <p:spPr bwMode="auto">
          <a:xfrm>
            <a:off x="6084888" y="5661025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67969" name="Oval 33"/>
          <p:cNvSpPr>
            <a:spLocks noChangeArrowheads="1"/>
          </p:cNvSpPr>
          <p:nvPr/>
        </p:nvSpPr>
        <p:spPr bwMode="auto">
          <a:xfrm>
            <a:off x="6084888" y="4724400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67" grpId="0" animBg="1"/>
      <p:bldP spid="167968" grpId="0" animBg="1"/>
      <p:bldP spid="16796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422101-6C4E-417A-A21C-2B155DD663E7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AU" altLang="en-US" sz="10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Example 4-2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725613"/>
            <a:ext cx="7570788" cy="946150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(b) Given that a customer is new, what is the probability that he or she spent over $200? </a:t>
            </a:r>
          </a:p>
        </p:txBody>
      </p:sp>
      <p:graphicFrame>
        <p:nvGraphicFramePr>
          <p:cNvPr id="168964" name="Object 4"/>
          <p:cNvGraphicFramePr>
            <a:graphicFrameLocks noChangeAspect="1"/>
          </p:cNvGraphicFramePr>
          <p:nvPr/>
        </p:nvGraphicFramePr>
        <p:xfrm>
          <a:off x="827088" y="2884488"/>
          <a:ext cx="7099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9" name="Equation" r:id="rId3" imgW="7099300" imgH="825500" progId="Equation.DSMT4">
                  <p:embed/>
                </p:oleObj>
              </mc:Choice>
              <mc:Fallback>
                <p:oleObj name="Equation" r:id="rId3" imgW="7099300" imgH="825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884488"/>
                        <a:ext cx="7099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95" name="Group 35"/>
          <p:cNvGraphicFramePr>
            <a:graphicFrameLocks noGrp="1"/>
          </p:cNvGraphicFramePr>
          <p:nvPr>
            <p:ph sz="half" idx="2"/>
          </p:nvPr>
        </p:nvGraphicFramePr>
        <p:xfrm>
          <a:off x="827088" y="4071938"/>
          <a:ext cx="7632700" cy="2052638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1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customer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Spent $200 or less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Spent over $200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8991" name="AutoShape 31"/>
          <p:cNvSpPr>
            <a:spLocks noChangeArrowheads="1"/>
          </p:cNvSpPr>
          <p:nvPr/>
        </p:nvSpPr>
        <p:spPr bwMode="auto">
          <a:xfrm>
            <a:off x="684213" y="4797425"/>
            <a:ext cx="7848600" cy="431800"/>
          </a:xfrm>
          <a:prstGeom prst="flowChartTerminator">
            <a:avLst/>
          </a:prstGeom>
          <a:noFill/>
          <a:ln w="254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68992" name="Oval 32"/>
          <p:cNvSpPr>
            <a:spLocks noChangeArrowheads="1"/>
          </p:cNvSpPr>
          <p:nvPr/>
        </p:nvSpPr>
        <p:spPr bwMode="auto">
          <a:xfrm>
            <a:off x="7669213" y="4797425"/>
            <a:ext cx="574675" cy="503238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68993" name="Oval 33"/>
          <p:cNvSpPr>
            <a:spLocks noChangeArrowheads="1"/>
          </p:cNvSpPr>
          <p:nvPr/>
        </p:nvSpPr>
        <p:spPr bwMode="auto">
          <a:xfrm>
            <a:off x="6156325" y="4797425"/>
            <a:ext cx="576263" cy="503238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91" grpId="0" animBg="1"/>
      <p:bldP spid="168992" grpId="0" animBg="1"/>
      <p:bldP spid="16899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C073B3-6F33-4FE7-BF30-E7CD0D568B16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AU" altLang="en-US" sz="100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Example 4-2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35013" y="1773238"/>
            <a:ext cx="8229600" cy="4192587"/>
          </a:xfrm>
          <a:noFill/>
        </p:spPr>
        <p:txBody>
          <a:bodyPr>
            <a:spAutoFit/>
          </a:bodyPr>
          <a:lstStyle/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(c) Explain  the difference in your answers for (a) and (b).</a:t>
            </a:r>
          </a:p>
          <a:p>
            <a:pPr marL="533400" indent="-533400" eaLnBrk="1" hangingPunct="1"/>
            <a:r>
              <a:rPr lang="en-AU" altLang="en-US" smtClean="0"/>
              <a:t>The conditional events are reversed.</a:t>
            </a:r>
          </a:p>
          <a:p>
            <a:pPr marL="533400" indent="-533400" eaLnBrk="1" hangingPunct="1"/>
            <a:r>
              <a:rPr lang="en-AU" altLang="en-US" smtClean="0"/>
              <a:t>(a) explores only those customers who spent over $200 and of these, the probability that a customer is new.</a:t>
            </a:r>
          </a:p>
          <a:p>
            <a:pPr marL="533400" indent="-533400" eaLnBrk="1" hangingPunct="1"/>
            <a:r>
              <a:rPr lang="en-AU" altLang="en-US" smtClean="0"/>
              <a:t>(b) explores only those customers who are new and of these, the probability that a customer spent over $200.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1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608F75-F9D4-40E1-94F3-42670AC84FC2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AU" altLang="en-US" sz="100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Example 4-2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557338"/>
            <a:ext cx="8208962" cy="4962525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(d) Are the two events, new customer and spent over $200 statistically independent?</a:t>
            </a:r>
          </a:p>
          <a:p>
            <a:pPr eaLnBrk="1" hangingPunct="1"/>
            <a:r>
              <a:rPr lang="en-AU" altLang="en-US" smtClean="0"/>
              <a:t>Events </a:t>
            </a:r>
            <a:r>
              <a:rPr lang="en-AU" altLang="en-US" i="1" smtClean="0"/>
              <a:t>A</a:t>
            </a:r>
            <a:r>
              <a:rPr lang="en-AU" altLang="en-US" smtClean="0"/>
              <a:t> and </a:t>
            </a:r>
            <a:r>
              <a:rPr lang="en-AU" altLang="en-US" i="1" smtClean="0"/>
              <a:t>B</a:t>
            </a:r>
            <a:r>
              <a:rPr lang="en-AU" altLang="en-US" smtClean="0"/>
              <a:t> are statistically independent if</a:t>
            </a:r>
          </a:p>
          <a:p>
            <a:pPr eaLnBrk="1" hangingPunct="1"/>
            <a:endParaRPr lang="en-AU" altLang="en-US" smtClean="0"/>
          </a:p>
          <a:p>
            <a:pPr eaLnBrk="1" hangingPunct="1"/>
            <a:endParaRPr lang="en-AU" altLang="en-US" smtClean="0"/>
          </a:p>
          <a:p>
            <a:pPr eaLnBrk="1" hangingPunct="1"/>
            <a:endParaRPr lang="en-AU" altLang="en-US" smtClean="0"/>
          </a:p>
          <a:p>
            <a:pPr eaLnBrk="1" hangingPunct="1"/>
            <a:endParaRPr lang="en-AU" altLang="en-US" smtClean="0"/>
          </a:p>
          <a:p>
            <a:pPr eaLnBrk="1" hangingPunct="1"/>
            <a:endParaRPr lang="en-AU" altLang="en-US" smtClean="0"/>
          </a:p>
          <a:p>
            <a:pPr eaLnBrk="1" hangingPunct="1"/>
            <a:r>
              <a:rPr lang="en-AU" altLang="en-US" smtClean="0"/>
              <a:t>Since these are not equal, the two events are not statistically independent.</a:t>
            </a:r>
          </a:p>
        </p:txBody>
      </p:sp>
      <p:graphicFrame>
        <p:nvGraphicFramePr>
          <p:cNvPr id="17203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119188" y="3068638"/>
          <a:ext cx="22288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6" name="Equation" r:id="rId3" imgW="2374900" imgH="533400" progId="Equation.DSMT4">
                  <p:embed/>
                </p:oleObj>
              </mc:Choice>
              <mc:Fallback>
                <p:oleObj name="Equation" r:id="rId3" imgW="2374900" imgH="533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8" y="3068638"/>
                        <a:ext cx="22288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8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093913" y="3721100"/>
          <a:ext cx="42068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7" name="Equation" r:id="rId5" imgW="4483100" imgH="838200" progId="Equation.DSMT4">
                  <p:embed/>
                </p:oleObj>
              </mc:Choice>
              <mc:Fallback>
                <p:oleObj name="Equation" r:id="rId5" imgW="4483100" imgH="838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913" y="3721100"/>
                        <a:ext cx="420687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0" name="Object 8"/>
          <p:cNvGraphicFramePr>
            <a:graphicFrameLocks noChangeAspect="1"/>
          </p:cNvGraphicFramePr>
          <p:nvPr/>
        </p:nvGraphicFramePr>
        <p:xfrm>
          <a:off x="1252538" y="4606925"/>
          <a:ext cx="71358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8" name="Equation" r:id="rId7" imgW="7137400" imgH="838200" progId="Equation.DSMT4">
                  <p:embed/>
                </p:oleObj>
              </mc:Choice>
              <mc:Fallback>
                <p:oleObj name="Equation" r:id="rId7" imgW="7137400" imgH="838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38" y="4606925"/>
                        <a:ext cx="71358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23C843-AB31-432A-86D6-21F613149E5B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AU" altLang="en-US" sz="10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Example 4-2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28775"/>
            <a:ext cx="8158163" cy="4449763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smtClean="0"/>
              <a:t>We can reverse the order of this test so that A and B would also be statistically independent if</a:t>
            </a:r>
          </a:p>
          <a:p>
            <a:pPr eaLnBrk="1" hangingPunct="1"/>
            <a:endParaRPr lang="en-AU" altLang="en-US" smtClean="0"/>
          </a:p>
          <a:p>
            <a:pPr eaLnBrk="1" hangingPunct="1"/>
            <a:endParaRPr lang="en-AU" altLang="en-US" smtClean="0"/>
          </a:p>
          <a:p>
            <a:pPr eaLnBrk="1" hangingPunct="1"/>
            <a:endParaRPr lang="en-AU" altLang="en-US" smtClean="0"/>
          </a:p>
          <a:p>
            <a:pPr eaLnBrk="1" hangingPunct="1"/>
            <a:endParaRPr lang="en-AU" altLang="en-US" smtClean="0"/>
          </a:p>
          <a:p>
            <a:pPr eaLnBrk="1" hangingPunct="1"/>
            <a:endParaRPr lang="en-AU" altLang="en-US" smtClean="0"/>
          </a:p>
          <a:p>
            <a:pPr eaLnBrk="1" hangingPunct="1"/>
            <a:r>
              <a:rPr lang="en-AU" altLang="en-US" smtClean="0"/>
              <a:t>Since these are not equal, we find again that the two events are not statistically independent.</a:t>
            </a:r>
          </a:p>
        </p:txBody>
      </p:sp>
      <p:graphicFrame>
        <p:nvGraphicFramePr>
          <p:cNvPr id="32773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781300" y="2725738"/>
          <a:ext cx="214471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0" name="Equation" r:id="rId3" imgW="2286000" imgH="533400" progId="Equation.DSMT4">
                  <p:embed/>
                </p:oleObj>
              </mc:Choice>
              <mc:Fallback>
                <p:oleObj name="Equation" r:id="rId3" imgW="2286000" imgH="533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2725738"/>
                        <a:ext cx="214471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7" name="Object 7"/>
          <p:cNvGraphicFramePr>
            <a:graphicFrameLocks noChangeAspect="1"/>
          </p:cNvGraphicFramePr>
          <p:nvPr/>
        </p:nvGraphicFramePr>
        <p:xfrm>
          <a:off x="755650" y="4259263"/>
          <a:ext cx="70977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1" name="Equation" r:id="rId5" imgW="7099300" imgH="825500" progId="Equation.DSMT4">
                  <p:embed/>
                </p:oleObj>
              </mc:Choice>
              <mc:Fallback>
                <p:oleObj name="Equation" r:id="rId5" imgW="7099300" imgH="825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259263"/>
                        <a:ext cx="70977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9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273175" y="3362325"/>
          <a:ext cx="44561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2" name="Equation" r:id="rId7" imgW="4749800" imgH="838200" progId="Equation.DSMT4">
                  <p:embed/>
                </p:oleObj>
              </mc:Choice>
              <mc:Fallback>
                <p:oleObj name="Equation" r:id="rId7" imgW="4749800" imgH="838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175" y="3362325"/>
                        <a:ext cx="445611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06115F9-E5AD-4FD4-B485-2F73C6691C70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AU" altLang="en-US" sz="10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Example 4-3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51000"/>
            <a:ext cx="8497887" cy="5013325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z="2600" smtClean="0"/>
              <a:t>	Chief Executive Officers (CEOs) of companies are demonstrating increasing mobility between companies.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z="2600" smtClean="0"/>
              <a:t>	A concerned employer at a particular company worries that constantly changing the CEO in his company has left an unstable work environment for staff, and customers confused by ever changing products.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z="2600" smtClean="0"/>
              <a:t>	He conducts a survey of 150 large companies, looking at whether the companies’ profit levels have increased or decreased and whether the company has had a new CEO within the last five years.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88D6AE-36D5-47AF-A7BD-FE5D44B8FC64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AU" altLang="en-US" sz="100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Example 4-3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8496300" cy="4106862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Based on his survey he discovers that of the 150 companies, 67 have reported decreased profits.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A total of 31 of the companies have not replaced their CEO within the last five years and of these, 29 have increased their profits.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Produce a contingency table summarising this information and use it to find the probability that a company has increased its profits given that it has replaced its CEO in the last five years.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1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E5D0A5-09BD-46EA-A4A5-FBABD8206050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AU" altLang="en-US" sz="100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4-3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7639050" cy="3424238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First identify the events:</a:t>
            </a:r>
          </a:p>
          <a:p>
            <a:pPr eaLnBrk="1" hangingPunct="1"/>
            <a:r>
              <a:rPr lang="en-AU" altLang="en-US" smtClean="0"/>
              <a:t>“New CEO in the last five years” (call this N for new).</a:t>
            </a:r>
          </a:p>
          <a:p>
            <a:pPr eaLnBrk="1" hangingPunct="1"/>
            <a:r>
              <a:rPr lang="en-AU" altLang="en-US" smtClean="0"/>
              <a:t>“Increased profit” (call this I for increase).</a:t>
            </a:r>
          </a:p>
          <a:p>
            <a:pPr eaLnBrk="1" hangingPunct="1"/>
            <a:r>
              <a:rPr lang="en-AU" altLang="en-US" smtClean="0"/>
              <a:t>Want to find the value of </a:t>
            </a:r>
          </a:p>
          <a:p>
            <a:pPr eaLnBrk="1" hangingPunct="1"/>
            <a:r>
              <a:rPr lang="en-AU" altLang="en-US" smtClean="0"/>
              <a:t>Use the information given to construct the contingency table…</a:t>
            </a:r>
          </a:p>
        </p:txBody>
      </p:sp>
      <p:graphicFrame>
        <p:nvGraphicFramePr>
          <p:cNvPr id="17818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364163" y="3644900"/>
          <a:ext cx="114458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4" name="Equation" r:id="rId3" imgW="1308100" imgH="571500" progId="Equation.DSMT4">
                  <p:embed/>
                </p:oleObj>
              </mc:Choice>
              <mc:Fallback>
                <p:oleObj name="Equation" r:id="rId3" imgW="1308100" imgH="571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644900"/>
                        <a:ext cx="1144587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39E95A-A209-4F13-BFB5-9C3468B451DE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AU" altLang="en-US" sz="100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4-3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606550"/>
            <a:ext cx="7993063" cy="2398713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smtClean="0"/>
              <a:t>Firstly create the table.</a:t>
            </a:r>
          </a:p>
          <a:p>
            <a:pPr eaLnBrk="1" hangingPunct="1"/>
            <a:r>
              <a:rPr lang="en-AU" altLang="en-US" smtClean="0"/>
              <a:t>Here we’ve placed new CEO down the rows and profit across the columns and listed the two options for each.</a:t>
            </a:r>
          </a:p>
          <a:p>
            <a:pPr eaLnBrk="1" hangingPunct="1"/>
            <a:r>
              <a:rPr lang="en-AU" altLang="en-US" smtClean="0"/>
              <a:t>Note we’ve included a totals row and column.</a:t>
            </a:r>
          </a:p>
        </p:txBody>
      </p:sp>
      <p:graphicFrame>
        <p:nvGraphicFramePr>
          <p:cNvPr id="177279" name="Group 127"/>
          <p:cNvGraphicFramePr>
            <a:graphicFrameLocks noGrp="1"/>
          </p:cNvGraphicFramePr>
          <p:nvPr>
            <p:ph sz="half" idx="2"/>
          </p:nvPr>
        </p:nvGraphicFramePr>
        <p:xfrm>
          <a:off x="1071563" y="4071938"/>
          <a:ext cx="6624637" cy="2351088"/>
        </p:xfrm>
        <a:graphic>
          <a:graphicData uri="http://schemas.openxmlformats.org/drawingml/2006/table">
            <a:tbl>
              <a:tblPr/>
              <a:tblGrid>
                <a:gridCol w="208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Increased profit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CEO in last five years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353CB2-CC43-4A3C-BD24-FCD368A96E3C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AU" altLang="en-US" sz="100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4-3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484313"/>
            <a:ext cx="8064500" cy="2740025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Based on his survey he discovers that of the 150 companies, 67 have reported decreased profits.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A total of 31 of the companies have not replaced their CEO within the last five years and of these, 29 have increased their profits.</a:t>
            </a:r>
          </a:p>
        </p:txBody>
      </p:sp>
      <p:graphicFrame>
        <p:nvGraphicFramePr>
          <p:cNvPr id="181252" name="Group 4"/>
          <p:cNvGraphicFramePr>
            <a:graphicFrameLocks noGrp="1"/>
          </p:cNvGraphicFramePr>
          <p:nvPr>
            <p:ph sz="half" idx="2"/>
          </p:nvPr>
        </p:nvGraphicFramePr>
        <p:xfrm>
          <a:off x="1143000" y="4143375"/>
          <a:ext cx="6624638" cy="2351088"/>
        </p:xfrm>
        <a:graphic>
          <a:graphicData uri="http://schemas.openxmlformats.org/drawingml/2006/table">
            <a:tbl>
              <a:tblPr/>
              <a:tblGrid>
                <a:gridCol w="2087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Increased profit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CEO in last five years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1293" name="Oval 45"/>
          <p:cNvSpPr>
            <a:spLocks noChangeArrowheads="1"/>
          </p:cNvSpPr>
          <p:nvPr/>
        </p:nvSpPr>
        <p:spPr bwMode="auto">
          <a:xfrm>
            <a:off x="827088" y="1917700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81294" name="Oval 46"/>
          <p:cNvSpPr>
            <a:spLocks noChangeArrowheads="1"/>
          </p:cNvSpPr>
          <p:nvPr/>
        </p:nvSpPr>
        <p:spPr bwMode="auto">
          <a:xfrm>
            <a:off x="6858000" y="6000750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93" grpId="0" animBg="1"/>
      <p:bldP spid="18129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DD6189-6469-4AB8-AD7B-B45306A9F20F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AU" altLang="en-US" sz="100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4-3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484313"/>
            <a:ext cx="8064500" cy="2740025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Based on his survey he discovers that of the 150 companies, 67 have reported decreased profits.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A total of 31 of the companies have not replaced their CEO within the last five years and of these, 29 have increased their profits.</a:t>
            </a:r>
          </a:p>
        </p:txBody>
      </p:sp>
      <p:graphicFrame>
        <p:nvGraphicFramePr>
          <p:cNvPr id="184324" name="Group 4"/>
          <p:cNvGraphicFramePr>
            <a:graphicFrameLocks noGrp="1"/>
          </p:cNvGraphicFramePr>
          <p:nvPr>
            <p:ph sz="half" idx="2"/>
          </p:nvPr>
        </p:nvGraphicFramePr>
        <p:xfrm>
          <a:off x="1116013" y="4365625"/>
          <a:ext cx="6624637" cy="2351088"/>
        </p:xfrm>
        <a:graphic>
          <a:graphicData uri="http://schemas.openxmlformats.org/drawingml/2006/table">
            <a:tbl>
              <a:tblPr/>
              <a:tblGrid>
                <a:gridCol w="208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Increased profit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CEO in last five years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959" name="Oval 45"/>
          <p:cNvSpPr>
            <a:spLocks noChangeArrowheads="1"/>
          </p:cNvSpPr>
          <p:nvPr/>
        </p:nvSpPr>
        <p:spPr bwMode="auto">
          <a:xfrm>
            <a:off x="3276600" y="1916113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38960" name="Oval 46"/>
          <p:cNvSpPr>
            <a:spLocks noChangeArrowheads="1"/>
          </p:cNvSpPr>
          <p:nvPr/>
        </p:nvSpPr>
        <p:spPr bwMode="auto">
          <a:xfrm>
            <a:off x="5580063" y="6165850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991A7D-C156-4783-A80F-F6A0259D07A3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AU" altLang="en-US" sz="100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4-3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484313"/>
            <a:ext cx="8064500" cy="2740025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Based on his survey he discovers that of the 150 companies, 67 have reported decreased profits.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A total of 31 of the companies have not replaced their CEO within the last five years and of these, 29 have increased their profits.</a:t>
            </a:r>
          </a:p>
        </p:txBody>
      </p:sp>
      <p:graphicFrame>
        <p:nvGraphicFramePr>
          <p:cNvPr id="185348" name="Group 4"/>
          <p:cNvGraphicFramePr>
            <a:graphicFrameLocks noGrp="1"/>
          </p:cNvGraphicFramePr>
          <p:nvPr>
            <p:ph sz="half" idx="2"/>
          </p:nvPr>
        </p:nvGraphicFramePr>
        <p:xfrm>
          <a:off x="1116013" y="4365625"/>
          <a:ext cx="6624637" cy="2351088"/>
        </p:xfrm>
        <a:graphic>
          <a:graphicData uri="http://schemas.openxmlformats.org/drawingml/2006/table">
            <a:tbl>
              <a:tblPr/>
              <a:tblGrid>
                <a:gridCol w="208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Increased profit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CEO in last five years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983" name="Oval 45"/>
          <p:cNvSpPr>
            <a:spLocks noChangeArrowheads="1"/>
          </p:cNvSpPr>
          <p:nvPr/>
        </p:nvSpPr>
        <p:spPr bwMode="auto">
          <a:xfrm>
            <a:off x="2195513" y="2852738"/>
            <a:ext cx="576262" cy="503237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39984" name="Oval 46"/>
          <p:cNvSpPr>
            <a:spLocks noChangeArrowheads="1"/>
          </p:cNvSpPr>
          <p:nvPr/>
        </p:nvSpPr>
        <p:spPr bwMode="auto">
          <a:xfrm>
            <a:off x="6804025" y="5734050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41D390-6CCE-455B-BBF8-6BF160716662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AU" altLang="en-US" sz="100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4-3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484313"/>
            <a:ext cx="8064500" cy="2740025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Based on his survey he discovers that of the 150 companies, 67 have reported decreased profits.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A total of 31 of the companies have not replaced their CEO within the last five years and of these, 29 have increased their profits.</a:t>
            </a:r>
          </a:p>
        </p:txBody>
      </p:sp>
      <p:graphicFrame>
        <p:nvGraphicFramePr>
          <p:cNvPr id="186372" name="Group 4"/>
          <p:cNvGraphicFramePr>
            <a:graphicFrameLocks noGrp="1"/>
          </p:cNvGraphicFramePr>
          <p:nvPr>
            <p:ph sz="half" idx="2"/>
          </p:nvPr>
        </p:nvGraphicFramePr>
        <p:xfrm>
          <a:off x="1116013" y="4365625"/>
          <a:ext cx="6624637" cy="2351088"/>
        </p:xfrm>
        <a:graphic>
          <a:graphicData uri="http://schemas.openxmlformats.org/drawingml/2006/table">
            <a:tbl>
              <a:tblPr/>
              <a:tblGrid>
                <a:gridCol w="208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Increased profit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CEO in last five years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007" name="Oval 45"/>
          <p:cNvSpPr>
            <a:spLocks noChangeArrowheads="1"/>
          </p:cNvSpPr>
          <p:nvPr/>
        </p:nvSpPr>
        <p:spPr bwMode="auto">
          <a:xfrm>
            <a:off x="2843213" y="3716338"/>
            <a:ext cx="576262" cy="503237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41008" name="Oval 46"/>
          <p:cNvSpPr>
            <a:spLocks noChangeArrowheads="1"/>
          </p:cNvSpPr>
          <p:nvPr/>
        </p:nvSpPr>
        <p:spPr bwMode="auto">
          <a:xfrm>
            <a:off x="4427538" y="5734050"/>
            <a:ext cx="647700" cy="574675"/>
          </a:xfrm>
          <a:prstGeom prst="ellipse">
            <a:avLst/>
          </a:prstGeom>
          <a:noFill/>
          <a:ln w="254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51DDE0-5974-4C99-A48D-756F7E4B4292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AU" altLang="en-US" sz="100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4-3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28675" y="1687513"/>
            <a:ext cx="8064500" cy="1885950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smtClean="0"/>
              <a:t>Now fill in the blanks in the table using basic logic.</a:t>
            </a:r>
          </a:p>
          <a:p>
            <a:pPr eaLnBrk="1" hangingPunct="1"/>
            <a:r>
              <a:rPr lang="en-AU" altLang="en-US" smtClean="0"/>
              <a:t>If 67 of the total have decreased profits then 150 – 67 = 83 have increased profit.</a:t>
            </a:r>
          </a:p>
        </p:txBody>
      </p:sp>
      <p:graphicFrame>
        <p:nvGraphicFramePr>
          <p:cNvPr id="187443" name="Group 51"/>
          <p:cNvGraphicFramePr>
            <a:graphicFrameLocks noGrp="1"/>
          </p:cNvGraphicFramePr>
          <p:nvPr>
            <p:ph sz="half" idx="2"/>
          </p:nvPr>
        </p:nvGraphicFramePr>
        <p:xfrm>
          <a:off x="1116013" y="3789363"/>
          <a:ext cx="6624637" cy="2351088"/>
        </p:xfrm>
        <a:graphic>
          <a:graphicData uri="http://schemas.openxmlformats.org/drawingml/2006/table">
            <a:tbl>
              <a:tblPr/>
              <a:tblGrid>
                <a:gridCol w="208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Increased profit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CEO in last five years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441" name="AutoShape 49"/>
          <p:cNvSpPr>
            <a:spLocks noChangeArrowheads="1"/>
          </p:cNvSpPr>
          <p:nvPr/>
        </p:nvSpPr>
        <p:spPr bwMode="auto">
          <a:xfrm>
            <a:off x="3924300" y="5662613"/>
            <a:ext cx="3887788" cy="460375"/>
          </a:xfrm>
          <a:prstGeom prst="flowChartTerminator">
            <a:avLst/>
          </a:prstGeom>
          <a:noFill/>
          <a:ln w="254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5" grpId="0" build="p"/>
      <p:bldP spid="18744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518A3E-D0A1-4056-958A-F67EFDF8BAC4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AU" altLang="en-US" sz="100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4-3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695450"/>
            <a:ext cx="8064500" cy="1373188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smtClean="0"/>
              <a:t>If 31 of the total have not replaced their CEO then 150 – 31 = 119 must have replaced their CEO.</a:t>
            </a:r>
          </a:p>
        </p:txBody>
      </p:sp>
      <p:graphicFrame>
        <p:nvGraphicFramePr>
          <p:cNvPr id="188464" name="Group 48"/>
          <p:cNvGraphicFramePr>
            <a:graphicFrameLocks noGrp="1"/>
          </p:cNvGraphicFramePr>
          <p:nvPr>
            <p:ph sz="half" idx="2"/>
          </p:nvPr>
        </p:nvGraphicFramePr>
        <p:xfrm>
          <a:off x="1466850" y="3303588"/>
          <a:ext cx="6457950" cy="2335213"/>
        </p:xfrm>
        <a:graphic>
          <a:graphicData uri="http://schemas.openxmlformats.org/drawingml/2006/table">
            <a:tbl>
              <a:tblPr/>
              <a:tblGrid>
                <a:gridCol w="203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2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Increased profit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31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CEO in last five years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25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055" name="AutoShape 45"/>
          <p:cNvSpPr>
            <a:spLocks noChangeArrowheads="1"/>
          </p:cNvSpPr>
          <p:nvPr/>
        </p:nvSpPr>
        <p:spPr bwMode="auto">
          <a:xfrm rot="5400000">
            <a:off x="6553200" y="4402138"/>
            <a:ext cx="1512887" cy="1150938"/>
          </a:xfrm>
          <a:prstGeom prst="flowChartTerminator">
            <a:avLst/>
          </a:prstGeom>
          <a:noFill/>
          <a:ln w="254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D45265-E2EB-42C8-B85B-EE7066FC0530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AU" altLang="en-US" sz="10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4-3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695450"/>
            <a:ext cx="8064500" cy="1373188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smtClean="0"/>
              <a:t>Of the 31 companies who have not replaced their CEO, 29 have increased profits and so 31 – 29 = 2 have decreased profit.</a:t>
            </a:r>
          </a:p>
        </p:txBody>
      </p:sp>
      <p:graphicFrame>
        <p:nvGraphicFramePr>
          <p:cNvPr id="189489" name="Group 49"/>
          <p:cNvGraphicFramePr>
            <a:graphicFrameLocks noGrp="1"/>
          </p:cNvGraphicFramePr>
          <p:nvPr>
            <p:ph sz="half" idx="2"/>
          </p:nvPr>
        </p:nvGraphicFramePr>
        <p:xfrm>
          <a:off x="1466850" y="3303588"/>
          <a:ext cx="6457950" cy="2335213"/>
        </p:xfrm>
        <a:graphic>
          <a:graphicData uri="http://schemas.openxmlformats.org/drawingml/2006/table">
            <a:tbl>
              <a:tblPr/>
              <a:tblGrid>
                <a:gridCol w="203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2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Increased profit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31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CEO in last five years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25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9486" name="AutoShape 46"/>
          <p:cNvSpPr>
            <a:spLocks noChangeArrowheads="1"/>
          </p:cNvSpPr>
          <p:nvPr/>
        </p:nvSpPr>
        <p:spPr bwMode="auto">
          <a:xfrm>
            <a:off x="4427538" y="4724400"/>
            <a:ext cx="3529012" cy="460375"/>
          </a:xfrm>
          <a:prstGeom prst="flowChartTerminator">
            <a:avLst/>
          </a:prstGeom>
          <a:noFill/>
          <a:ln w="254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8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CCFE0F-E42C-448C-A003-7AE9B8D7D0E9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AU" altLang="en-US" sz="1000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4-3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628775"/>
            <a:ext cx="8064500" cy="1373188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smtClean="0"/>
              <a:t>Of the 83 companies who have increased profits, 29 have not replaced their CEO and so 83 – 29 = 54 have replaced their CEO.</a:t>
            </a:r>
          </a:p>
        </p:txBody>
      </p:sp>
      <p:graphicFrame>
        <p:nvGraphicFramePr>
          <p:cNvPr id="190513" name="Group 49"/>
          <p:cNvGraphicFramePr>
            <a:graphicFrameLocks noGrp="1"/>
          </p:cNvGraphicFramePr>
          <p:nvPr>
            <p:ph sz="half" idx="2"/>
          </p:nvPr>
        </p:nvGraphicFramePr>
        <p:xfrm>
          <a:off x="1466850" y="3303588"/>
          <a:ext cx="6457950" cy="2335213"/>
        </p:xfrm>
        <a:graphic>
          <a:graphicData uri="http://schemas.openxmlformats.org/drawingml/2006/table">
            <a:tbl>
              <a:tblPr/>
              <a:tblGrid>
                <a:gridCol w="203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2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Increased profit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31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CEO in last five years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25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103" name="AutoShape 46"/>
          <p:cNvSpPr>
            <a:spLocks noChangeArrowheads="1"/>
          </p:cNvSpPr>
          <p:nvPr/>
        </p:nvSpPr>
        <p:spPr bwMode="auto">
          <a:xfrm rot="5400000">
            <a:off x="4212432" y="4582319"/>
            <a:ext cx="1512887" cy="790575"/>
          </a:xfrm>
          <a:prstGeom prst="flowChartTerminator">
            <a:avLst/>
          </a:prstGeom>
          <a:noFill/>
          <a:ln w="254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200024-0515-4151-909A-157BE68D49C5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AU" altLang="en-US" sz="100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4-3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625600"/>
            <a:ext cx="8208962" cy="2740025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smtClean="0"/>
              <a:t>Finally, of the 67 companies who have not increased profits, 2 have not replaced their CEO and so 67 – 2 = 65 have replaced their CEO.</a:t>
            </a:r>
          </a:p>
          <a:p>
            <a:pPr eaLnBrk="1" hangingPunct="1"/>
            <a:r>
              <a:rPr lang="en-AU" altLang="en-US" smtClean="0"/>
              <a:t>OR, of the 119 who have a new CEO, 54 have increased profit and so 119 – 54 = 65 who have not increased profit.</a:t>
            </a:r>
          </a:p>
        </p:txBody>
      </p:sp>
      <p:graphicFrame>
        <p:nvGraphicFramePr>
          <p:cNvPr id="191492" name="Group 4"/>
          <p:cNvGraphicFramePr>
            <a:graphicFrameLocks noGrp="1"/>
          </p:cNvGraphicFramePr>
          <p:nvPr>
            <p:ph sz="half" idx="2"/>
          </p:nvPr>
        </p:nvGraphicFramePr>
        <p:xfrm>
          <a:off x="1116013" y="4318000"/>
          <a:ext cx="6624637" cy="2351088"/>
        </p:xfrm>
        <a:graphic>
          <a:graphicData uri="http://schemas.openxmlformats.org/drawingml/2006/table">
            <a:tbl>
              <a:tblPr/>
              <a:tblGrid>
                <a:gridCol w="208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Increased profit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CEO in last five years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127" name="AutoShape 45"/>
          <p:cNvSpPr>
            <a:spLocks noChangeArrowheads="1"/>
          </p:cNvSpPr>
          <p:nvPr/>
        </p:nvSpPr>
        <p:spPr bwMode="auto">
          <a:xfrm rot="5400000">
            <a:off x="5148263" y="5373687"/>
            <a:ext cx="1512888" cy="1223963"/>
          </a:xfrm>
          <a:prstGeom prst="flowChartTerminator">
            <a:avLst/>
          </a:prstGeom>
          <a:noFill/>
          <a:ln w="254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0EBBB6-D761-4115-BEB9-7C24BE225F16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AU" altLang="en-US" sz="100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4-3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600200"/>
            <a:ext cx="7869237" cy="946150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Now the desired probability can be found from the final table.</a:t>
            </a:r>
          </a:p>
        </p:txBody>
      </p:sp>
      <p:graphicFrame>
        <p:nvGraphicFramePr>
          <p:cNvPr id="183349" name="Group 53"/>
          <p:cNvGraphicFramePr>
            <a:graphicFrameLocks noGrp="1"/>
          </p:cNvGraphicFramePr>
          <p:nvPr>
            <p:ph sz="quarter" idx="2"/>
          </p:nvPr>
        </p:nvGraphicFramePr>
        <p:xfrm>
          <a:off x="1997075" y="2343150"/>
          <a:ext cx="6218238" cy="3067051"/>
        </p:xfrm>
        <a:graphic>
          <a:graphicData uri="http://schemas.openxmlformats.org/drawingml/2006/table">
            <a:tbl>
              <a:tblPr/>
              <a:tblGrid>
                <a:gridCol w="1960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9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9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1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Increased profit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31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 CEO in last five years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65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3913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7149" name="Object 4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331913" y="5661025"/>
          <a:ext cx="6453187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9" name="Equation" r:id="rId3" imgW="6959600" imgH="889000" progId="Equation.DSMT4">
                  <p:embed/>
                </p:oleObj>
              </mc:Choice>
              <mc:Fallback>
                <p:oleObj name="Equation" r:id="rId3" imgW="6959600" imgH="8890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661025"/>
                        <a:ext cx="6453187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50" name="AutoShape 50"/>
          <p:cNvSpPr>
            <a:spLocks noChangeArrowheads="1"/>
          </p:cNvSpPr>
          <p:nvPr/>
        </p:nvSpPr>
        <p:spPr bwMode="auto">
          <a:xfrm>
            <a:off x="4787900" y="3644900"/>
            <a:ext cx="3455988" cy="460375"/>
          </a:xfrm>
          <a:prstGeom prst="flowChartTerminator">
            <a:avLst/>
          </a:prstGeom>
          <a:noFill/>
          <a:ln w="254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C2CADB-4669-46D1-8517-9E86B4A5A6D9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AU" altLang="en-US" sz="100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Bayes’ theorem</a:t>
            </a:r>
          </a:p>
        </p:txBody>
      </p:sp>
      <p:graphicFrame>
        <p:nvGraphicFramePr>
          <p:cNvPr id="48132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1590675" y="1936750"/>
          <a:ext cx="6003925" cy="233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1" name="Equation" r:id="rId3" imgW="6311900" imgH="2451100" progId="Equation.DSMT4">
                  <p:embed/>
                </p:oleObj>
              </mc:Choice>
              <mc:Fallback>
                <p:oleObj name="Equation" r:id="rId3" imgW="6311900" imgH="2451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675" y="1936750"/>
                        <a:ext cx="6003925" cy="233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946203-421A-497E-8921-BF9EEAE64AC4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AU" altLang="en-US" sz="100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Example 4-4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557338"/>
            <a:ext cx="8280400" cy="49672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mtClean="0"/>
              <a:t>	Two large supermarket chains, “Value Mart” and “Goldies”, have been fiercely competitive with their range of products.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mtClean="0"/>
              <a:t>	Data is collected by an external watchdog which indicates that when a new product is introduced to the market Goldies will begin to retail that product 90% of the time.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mtClean="0"/>
              <a:t>	If Goldies has already begun to market a product, Value Mart will take up the product 85% of the time.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mtClean="0"/>
              <a:t>	When Goldies does not begin to retail a product, Value Mart begins to retail it 25% of the 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795D00-C457-4297-B22A-5F34557B5328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AU" altLang="en-US" sz="100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4-4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689100"/>
            <a:ext cx="7920038" cy="3252788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(a) Determine the probability that Goldies will market a product given that Value Mart is already retailing it.</a:t>
            </a:r>
          </a:p>
          <a:p>
            <a:pPr lvl="1" eaLnBrk="1" hangingPunct="1"/>
            <a:r>
              <a:rPr lang="en-AU" altLang="en-US" sz="2800" smtClean="0"/>
              <a:t>Let </a:t>
            </a:r>
            <a:r>
              <a:rPr lang="en-AU" altLang="en-US" sz="2800" i="1" smtClean="0"/>
              <a:t>V</a:t>
            </a:r>
            <a:r>
              <a:rPr lang="en-AU" altLang="en-US" sz="2800" smtClean="0"/>
              <a:t> be the event that Value Mart retails a product</a:t>
            </a:r>
          </a:p>
          <a:p>
            <a:pPr lvl="1" eaLnBrk="1" hangingPunct="1"/>
            <a:r>
              <a:rPr lang="en-AU" altLang="en-US" sz="2800" smtClean="0"/>
              <a:t>Let </a:t>
            </a:r>
            <a:r>
              <a:rPr lang="en-AU" altLang="en-US" sz="2800" i="1" smtClean="0"/>
              <a:t>G </a:t>
            </a:r>
            <a:r>
              <a:rPr lang="en-AU" altLang="en-US" sz="2800" smtClean="0"/>
              <a:t>be the event that Goldies retails a product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1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BBA25E-22E1-4F4F-90B6-270FB7FB520B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AU" altLang="en-US" sz="100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4-4</a:t>
            </a:r>
          </a:p>
        </p:txBody>
      </p:sp>
      <p:sp>
        <p:nvSpPr>
          <p:cNvPr id="199692" name="Rectangle 12"/>
          <p:cNvSpPr>
            <a:spLocks noChangeArrowheads="1"/>
          </p:cNvSpPr>
          <p:nvPr/>
        </p:nvSpPr>
        <p:spPr bwMode="auto">
          <a:xfrm>
            <a:off x="685800" y="1700213"/>
            <a:ext cx="8207375" cy="385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chemeClr val="hlink"/>
              </a:buClr>
              <a:buSzPct val="75000"/>
            </a:pPr>
            <a:r>
              <a:rPr kumimoji="1" lang="en-AU" altLang="en-US"/>
              <a:t> We know from the information given that:</a:t>
            </a:r>
          </a:p>
          <a:p>
            <a:pPr lvl="1"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1" lang="en-AU" altLang="en-US" sz="2800"/>
              <a:t>“…Goldies will begin to retail that product 90% of the time.”</a:t>
            </a:r>
          </a:p>
          <a:p>
            <a:pPr lvl="1">
              <a:buClr>
                <a:schemeClr val="hlink"/>
              </a:buClr>
              <a:buFont typeface="Wingdings" panose="05000000000000000000" pitchFamily="2" charset="2"/>
              <a:buNone/>
            </a:pPr>
            <a:endParaRPr kumimoji="1" lang="en-AU" altLang="en-US" sz="2800"/>
          </a:p>
          <a:p>
            <a:pPr lvl="1">
              <a:buClr>
                <a:schemeClr val="hlink"/>
              </a:buClr>
              <a:buFont typeface="Wingdings" panose="05000000000000000000" pitchFamily="2" charset="2"/>
              <a:buNone/>
            </a:pPr>
            <a:endParaRPr kumimoji="1" lang="en-AU" altLang="en-US" sz="2800"/>
          </a:p>
          <a:p>
            <a:pPr lvl="1"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1" lang="en-AU" altLang="en-US" sz="2800"/>
              <a:t>“If Goldies has already begun to market a product, Value Mart will take up the product 85% of the time.”</a:t>
            </a:r>
          </a:p>
        </p:txBody>
      </p:sp>
      <p:graphicFrame>
        <p:nvGraphicFramePr>
          <p:cNvPr id="199693" name="Object 13"/>
          <p:cNvGraphicFramePr>
            <a:graphicFrameLocks noChangeAspect="1"/>
          </p:cNvGraphicFramePr>
          <p:nvPr/>
        </p:nvGraphicFramePr>
        <p:xfrm>
          <a:off x="2155825" y="3116263"/>
          <a:ext cx="27035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3" name="Equation" r:id="rId3" imgW="2705100" imgH="889000" progId="Equation.DSMT4">
                  <p:embed/>
                </p:oleObj>
              </mc:Choice>
              <mc:Fallback>
                <p:oleObj name="Equation" r:id="rId3" imgW="2705100" imgH="8890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825" y="3116263"/>
                        <a:ext cx="27035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94" name="Object 1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281238" y="5661025"/>
          <a:ext cx="21463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4" name="Equation" r:id="rId5" imgW="2286000" imgH="571320" progId="Equation.DSMT4">
                  <p:embed/>
                </p:oleObj>
              </mc:Choice>
              <mc:Fallback>
                <p:oleObj name="Equation" r:id="rId5" imgW="2286000" imgH="57132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8" y="5661025"/>
                        <a:ext cx="21463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92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457BBD-9729-478A-8518-DBAFBFE9C212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AU" altLang="en-US" sz="100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4-4</a:t>
            </a:r>
          </a:p>
        </p:txBody>
      </p:sp>
      <p:graphicFrame>
        <p:nvGraphicFramePr>
          <p:cNvPr id="221187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119313" y="4371975"/>
          <a:ext cx="45402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7" name="Equation" r:id="rId3" imgW="4800600" imgH="520560" progId="Equation.DSMT4">
                  <p:embed/>
                </p:oleObj>
              </mc:Choice>
              <mc:Fallback>
                <p:oleObj name="Equation" r:id="rId3" imgW="4800600" imgH="5205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313" y="4371975"/>
                        <a:ext cx="454025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188" name="Rectangle 4"/>
          <p:cNvSpPr>
            <a:spLocks noChangeArrowheads="1"/>
          </p:cNvSpPr>
          <p:nvPr/>
        </p:nvSpPr>
        <p:spPr bwMode="auto">
          <a:xfrm>
            <a:off x="468313" y="1916113"/>
            <a:ext cx="8207375" cy="239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1" lang="en-AU" altLang="en-US" sz="2800"/>
              <a:t>“When Goldies does not begin to retail a product, Value Mart begins to retail it 25% of the time”</a:t>
            </a:r>
          </a:p>
          <a:p>
            <a:pPr>
              <a:buClr>
                <a:schemeClr val="hlink"/>
              </a:buClr>
              <a:buSzPct val="75000"/>
            </a:pPr>
            <a:endParaRPr kumimoji="1" lang="en-AU" altLang="en-US"/>
          </a:p>
          <a:p>
            <a:pPr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AU" altLang="en-US"/>
              <a:t>     We can calculate that:</a:t>
            </a:r>
          </a:p>
        </p:txBody>
      </p:sp>
      <p:graphicFrame>
        <p:nvGraphicFramePr>
          <p:cNvPr id="221191" name="Object 7"/>
          <p:cNvGraphicFramePr>
            <a:graphicFrameLocks noChangeAspect="1"/>
          </p:cNvGraphicFramePr>
          <p:nvPr/>
        </p:nvGraphicFramePr>
        <p:xfrm>
          <a:off x="1706563" y="3289300"/>
          <a:ext cx="23606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8" name="Equation" r:id="rId5" imgW="2362200" imgH="571500" progId="Equation.DSMT4">
                  <p:embed/>
                </p:oleObj>
              </mc:Choice>
              <mc:Fallback>
                <p:oleObj name="Equation" r:id="rId5" imgW="2362200" imgH="571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563" y="3289300"/>
                        <a:ext cx="236061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8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FB81ED-81B8-4CC2-AED3-61E4535AC026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AU" altLang="en-US" sz="100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4-4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628775"/>
            <a:ext cx="8137525" cy="457200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z="2400" smtClean="0"/>
              <a:t>Using Bayes’ theorem we find</a:t>
            </a:r>
          </a:p>
        </p:txBody>
      </p:sp>
      <p:graphicFrame>
        <p:nvGraphicFramePr>
          <p:cNvPr id="53253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350963" y="2071688"/>
          <a:ext cx="6053137" cy="230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1" name="Equation" r:id="rId3" imgW="6426200" imgH="2451100" progId="Equation.DSMT4">
                  <p:embed/>
                </p:oleObj>
              </mc:Choice>
              <mc:Fallback>
                <p:oleObj name="Equation" r:id="rId3" imgW="6426200" imgH="2451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0963" y="2071688"/>
                        <a:ext cx="6053137" cy="230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1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574925" y="4441825"/>
          <a:ext cx="4424363" cy="155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2" name="Equation" r:id="rId5" imgW="4737100" imgH="1663700" progId="Equation.DSMT4">
                  <p:embed/>
                </p:oleObj>
              </mc:Choice>
              <mc:Fallback>
                <p:oleObj name="Equation" r:id="rId5" imgW="4737100" imgH="166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925" y="4441825"/>
                        <a:ext cx="4424363" cy="155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9853B8-33A7-40CA-ADEA-02DD26EDCB25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AU" altLang="en-US" sz="1000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4-4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700213"/>
            <a:ext cx="7639050" cy="946150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(b) Find the probability that Value Mart retails a given product.</a:t>
            </a:r>
          </a:p>
        </p:txBody>
      </p:sp>
      <p:graphicFrame>
        <p:nvGraphicFramePr>
          <p:cNvPr id="201732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860550" y="2722563"/>
          <a:ext cx="55959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5" name="Equation" r:id="rId3" imgW="5994400" imgH="571500" progId="Equation.DSMT4">
                  <p:embed/>
                </p:oleObj>
              </mc:Choice>
              <mc:Fallback>
                <p:oleObj name="Equation" r:id="rId3" imgW="5994400" imgH="571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550" y="2722563"/>
                        <a:ext cx="559593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3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720975" y="3357563"/>
          <a:ext cx="333057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6" name="Equation" r:id="rId5" imgW="3556000" imgH="1003300" progId="Equation.DSMT4">
                  <p:embed/>
                </p:oleObj>
              </mc:Choice>
              <mc:Fallback>
                <p:oleObj name="Equation" r:id="rId5" imgW="3556000" imgH="1003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75" y="3357563"/>
                        <a:ext cx="333057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7FDFF0-D130-4C0A-BA37-46B506A836AA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AU" altLang="en-US" sz="1000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>
                <a:solidFill>
                  <a:schemeClr val="hlink"/>
                </a:solidFill>
              </a:rPr>
              <a:t>Solution 4-4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2625" y="1671638"/>
            <a:ext cx="8353425" cy="4278312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(b) Why might this information be useful?</a:t>
            </a:r>
          </a:p>
          <a:p>
            <a:pPr eaLnBrk="1" hangingPunct="1"/>
            <a:r>
              <a:rPr lang="en-AU" altLang="en-US" smtClean="0"/>
              <a:t>The external watchdog might be interested in determining whether there is collusion between the two supermarket chains.</a:t>
            </a:r>
          </a:p>
          <a:p>
            <a:pPr eaLnBrk="1" hangingPunct="1"/>
            <a:r>
              <a:rPr lang="en-AU" altLang="en-US" smtClean="0"/>
              <a:t>Do they only choose certain products or brands?</a:t>
            </a:r>
          </a:p>
          <a:p>
            <a:pPr eaLnBrk="1" hangingPunct="1"/>
            <a:r>
              <a:rPr lang="en-AU" altLang="en-US" smtClean="0"/>
              <a:t>Does the decision of one supermarket chain impact on the decision of the other?</a:t>
            </a:r>
          </a:p>
          <a:p>
            <a:pPr eaLnBrk="1" hangingPunct="1"/>
            <a:r>
              <a:rPr lang="en-AU" altLang="en-US" smtClean="0"/>
              <a:t>Is one supermarket following the other or are the decisions autonomous?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5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1E00BB-574B-405B-B6B2-0A25CEA86994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AU" altLang="en-US" sz="1000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dirty="0" smtClean="0"/>
              <a:t>Counting rules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4142673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dirty="0" smtClean="0"/>
              <a:t>The size of a sample space can be enormous. It is then not possible to count the number of elements individually.</a:t>
            </a:r>
          </a:p>
          <a:p>
            <a:pPr eaLnBrk="1" hangingPunct="1"/>
            <a:r>
              <a:rPr lang="en-AU" altLang="en-US" dirty="0" smtClean="0"/>
              <a:t>It then becomes necessary to apply some mathematical techniques to count the number of elements in a sample space or in desired event</a:t>
            </a:r>
            <a:r>
              <a:rPr lang="en-AU" altLang="en-US" dirty="0" smtClean="0"/>
              <a:t>.</a:t>
            </a:r>
          </a:p>
          <a:p>
            <a:pPr eaLnBrk="1" hangingPunct="1"/>
            <a:r>
              <a:rPr lang="en-AU" altLang="en-US" dirty="0" smtClean="0"/>
              <a:t>The information thus obtained can be used to calculate probability values.</a:t>
            </a:r>
            <a:endParaRPr lang="en-AU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6560AF-0646-4EC4-95FD-BAF111215B7A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AU" altLang="en-US" sz="1000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Counting rule 1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1815882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dirty="0" smtClean="0"/>
              <a:t>For </a:t>
            </a:r>
            <a:r>
              <a:rPr lang="en-AU" altLang="en-US" i="1" dirty="0" smtClean="0"/>
              <a:t>k</a:t>
            </a:r>
            <a:r>
              <a:rPr lang="en-AU" altLang="en-US" dirty="0" smtClean="0"/>
              <a:t> events (mutually exclusive and collectively exhaustive) </a:t>
            </a:r>
            <a:r>
              <a:rPr lang="en-AU" altLang="en-US" dirty="0" smtClean="0"/>
              <a:t>that can occur </a:t>
            </a:r>
            <a:r>
              <a:rPr lang="en-AU" altLang="en-US" dirty="0" smtClean="0"/>
              <a:t>in each of </a:t>
            </a:r>
            <a:r>
              <a:rPr lang="en-AU" altLang="en-US" i="1" dirty="0" smtClean="0"/>
              <a:t>n</a:t>
            </a:r>
            <a:r>
              <a:rPr lang="en-AU" altLang="en-US" dirty="0" smtClean="0"/>
              <a:t> trials the number of possible outcomes is </a:t>
            </a:r>
            <a:r>
              <a:rPr lang="en-AU" altLang="en-US" i="1" dirty="0" smtClean="0"/>
              <a:t>k</a:t>
            </a:r>
            <a:r>
              <a:rPr lang="en-AU" altLang="en-US" i="1" baseline="30000" dirty="0" smtClean="0"/>
              <a:t>n</a:t>
            </a:r>
            <a:r>
              <a:rPr lang="en-AU" alt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AEC6FB-5926-4376-BCBC-A22E477E1F7F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AU" altLang="en-US" sz="1000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Counting rule 1 - example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679575"/>
            <a:ext cx="7772400" cy="4315027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sz="2400" dirty="0" smtClean="0"/>
              <a:t>For example, a standard dice has six possible outcomes (</a:t>
            </a:r>
            <a:r>
              <a:rPr lang="en-AU" altLang="en-US" sz="2400" i="1" dirty="0" smtClean="0"/>
              <a:t>k </a:t>
            </a:r>
            <a:r>
              <a:rPr lang="en-AU" altLang="en-US" sz="2400" dirty="0" smtClean="0"/>
              <a:t>= 6).  These are </a:t>
            </a:r>
          </a:p>
          <a:p>
            <a:pPr lvl="1" eaLnBrk="1" hangingPunct="1"/>
            <a:r>
              <a:rPr lang="en-AU" altLang="en-US" sz="2400" b="1" i="1" dirty="0" smtClean="0"/>
              <a:t>mutually exclusive</a:t>
            </a:r>
            <a:r>
              <a:rPr lang="en-AU" altLang="en-US" sz="2400" dirty="0" smtClean="0"/>
              <a:t> – there is no overlap between outcomes</a:t>
            </a:r>
          </a:p>
          <a:p>
            <a:pPr lvl="1" eaLnBrk="1" hangingPunct="1"/>
            <a:r>
              <a:rPr lang="en-AU" altLang="en-US" sz="2400" b="1" i="1" dirty="0" smtClean="0"/>
              <a:t>collectively exhaustive</a:t>
            </a:r>
            <a:r>
              <a:rPr lang="en-AU" altLang="en-US" sz="2400" dirty="0" smtClean="0"/>
              <a:t> – there are no other possible outcomes</a:t>
            </a:r>
          </a:p>
          <a:p>
            <a:pPr eaLnBrk="1" hangingPunct="1"/>
            <a:r>
              <a:rPr lang="en-AU" altLang="en-US" sz="2000" dirty="0" smtClean="0"/>
              <a:t>If a dice is rolled twice, </a:t>
            </a:r>
            <a:r>
              <a:rPr lang="en-AU" altLang="en-US" sz="2000" i="1" dirty="0" smtClean="0"/>
              <a:t>n</a:t>
            </a:r>
            <a:r>
              <a:rPr lang="en-AU" altLang="en-US" sz="2000" dirty="0" smtClean="0"/>
              <a:t> = 2, then number of possible outcomes is 6</a:t>
            </a:r>
            <a:r>
              <a:rPr lang="en-AU" altLang="en-US" sz="2000" baseline="30000" dirty="0" smtClean="0"/>
              <a:t>2</a:t>
            </a:r>
            <a:r>
              <a:rPr lang="en-AU" altLang="en-US" sz="2000" dirty="0" smtClean="0"/>
              <a:t> = 36 (which we have seen earlier).</a:t>
            </a:r>
          </a:p>
          <a:p>
            <a:pPr eaLnBrk="1" hangingPunct="1"/>
            <a:r>
              <a:rPr lang="en-AU" altLang="en-US" sz="2400" dirty="0" smtClean="0"/>
              <a:t>If a dice is rolled three times, then for </a:t>
            </a:r>
            <a:r>
              <a:rPr lang="en-AU" altLang="en-US" sz="2400" i="1" dirty="0" smtClean="0"/>
              <a:t>n </a:t>
            </a:r>
            <a:r>
              <a:rPr lang="en-AU" altLang="en-US" sz="2400" dirty="0" smtClean="0"/>
              <a:t>= 3 there are 6</a:t>
            </a:r>
            <a:r>
              <a:rPr lang="en-AU" altLang="en-US" sz="2400" baseline="30000" dirty="0" smtClean="0"/>
              <a:t>3</a:t>
            </a:r>
            <a:r>
              <a:rPr lang="en-AU" altLang="en-US" sz="2400" dirty="0" smtClean="0"/>
              <a:t> = 216 possible outcomes.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z="2000" dirty="0" smtClean="0">
                <a:solidFill>
                  <a:srgbClr val="FF0000"/>
                </a:solidFill>
              </a:rPr>
              <a:t>	</a:t>
            </a:r>
            <a:r>
              <a:rPr lang="en-AU" altLang="en-US" sz="1800" dirty="0" smtClean="0">
                <a:solidFill>
                  <a:srgbClr val="FF0000"/>
                </a:solidFill>
              </a:rPr>
              <a:t>Example: (1,1,1), (1,1,2), (1,1,3),… ,(1,2,1), (1,2,2), …  ,(6,6,5), (6,6,6)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1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C90B52-6AF7-4E80-B9B3-B8DA674F044F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AU" altLang="en-US" sz="1000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Counting rule 2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1885950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dirty="0" smtClean="0"/>
              <a:t>For </a:t>
            </a:r>
            <a:r>
              <a:rPr lang="en-AU" altLang="en-US" i="1" dirty="0" smtClean="0"/>
              <a:t>k</a:t>
            </a:r>
            <a:r>
              <a:rPr lang="en-AU" altLang="en-US" i="1" baseline="-25000" dirty="0" smtClean="0"/>
              <a:t>1</a:t>
            </a:r>
            <a:r>
              <a:rPr lang="en-AU" altLang="en-US" dirty="0" smtClean="0"/>
              <a:t> possible outcomes on the first trial, </a:t>
            </a:r>
            <a:r>
              <a:rPr lang="en-AU" altLang="en-US" i="1" dirty="0" smtClean="0"/>
              <a:t>k</a:t>
            </a:r>
            <a:r>
              <a:rPr lang="en-AU" altLang="en-US" i="1" baseline="-25000" dirty="0" smtClean="0"/>
              <a:t>2</a:t>
            </a:r>
            <a:r>
              <a:rPr lang="en-AU" altLang="en-US" dirty="0" smtClean="0"/>
              <a:t> on the second trial, … and </a:t>
            </a:r>
            <a:r>
              <a:rPr lang="en-AU" altLang="en-US" i="1" dirty="0" err="1" smtClean="0"/>
              <a:t>k</a:t>
            </a:r>
            <a:r>
              <a:rPr lang="en-AU" altLang="en-US" i="1" baseline="-25000" dirty="0" err="1" smtClean="0"/>
              <a:t>n</a:t>
            </a:r>
            <a:r>
              <a:rPr lang="en-AU" altLang="en-US" dirty="0" smtClean="0"/>
              <a:t> on the </a:t>
            </a:r>
            <a:r>
              <a:rPr lang="en-AU" altLang="en-US" i="1" dirty="0" smtClean="0"/>
              <a:t>n</a:t>
            </a:r>
            <a:r>
              <a:rPr lang="en-AU" altLang="en-US" dirty="0" smtClean="0"/>
              <a:t>th trial, the total number of possible outcomes is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i="1" dirty="0" smtClean="0"/>
              <a:t>			k</a:t>
            </a:r>
            <a:r>
              <a:rPr lang="en-AU" altLang="en-US" i="1" baseline="-25000" dirty="0" smtClean="0"/>
              <a:t>1</a:t>
            </a:r>
            <a:r>
              <a:rPr lang="en-AU" altLang="en-US" dirty="0" smtClean="0">
                <a:sym typeface="Symbol" panose="05050102010706020507" pitchFamily="18" charset="2"/>
              </a:rPr>
              <a:t> </a:t>
            </a:r>
            <a:r>
              <a:rPr lang="en-AU" altLang="en-US" i="1" dirty="0" smtClean="0"/>
              <a:t>k</a:t>
            </a:r>
            <a:r>
              <a:rPr lang="en-AU" altLang="en-US" i="1" baseline="-25000" dirty="0" smtClean="0"/>
              <a:t>2</a:t>
            </a:r>
            <a:r>
              <a:rPr lang="en-AU" altLang="en-US" dirty="0" smtClean="0">
                <a:sym typeface="Symbol" panose="05050102010706020507" pitchFamily="18" charset="2"/>
              </a:rPr>
              <a:t> … </a:t>
            </a:r>
            <a:r>
              <a:rPr lang="en-AU" altLang="en-US" i="1" dirty="0" smtClean="0"/>
              <a:t>k</a:t>
            </a:r>
            <a:r>
              <a:rPr lang="en-AU" altLang="en-US" i="1" baseline="-25000" dirty="0" smtClean="0"/>
              <a:t>n</a:t>
            </a:r>
            <a:r>
              <a:rPr lang="en-AU" alt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A4DF7C-B7E7-4395-8705-AE7298687341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AU" altLang="en-US" sz="1000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Counting rule 2 - example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5013" y="1557338"/>
            <a:ext cx="8229600" cy="4664075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dirty="0" smtClean="0"/>
              <a:t>A courier must travel between three drop-offs in the following order: A, B and C.</a:t>
            </a:r>
          </a:p>
          <a:p>
            <a:pPr eaLnBrk="1" hangingPunct="1"/>
            <a:r>
              <a:rPr lang="en-AU" altLang="en-US" dirty="0" smtClean="0"/>
              <a:t>From A, there are two ways to reach B (</a:t>
            </a:r>
            <a:r>
              <a:rPr lang="en-AU" altLang="en-US" sz="3200" i="1" dirty="0" smtClean="0"/>
              <a:t>k</a:t>
            </a:r>
            <a:r>
              <a:rPr lang="en-AU" altLang="en-US" sz="3200" i="1" baseline="-25000" dirty="0" smtClean="0"/>
              <a:t>1</a:t>
            </a:r>
            <a:r>
              <a:rPr lang="en-AU" altLang="en-US" dirty="0" smtClean="0"/>
              <a:t> = 2).</a:t>
            </a:r>
          </a:p>
          <a:p>
            <a:pPr eaLnBrk="1" hangingPunct="1"/>
            <a:r>
              <a:rPr lang="en-AU" altLang="en-US" dirty="0" smtClean="0"/>
              <a:t>From B, there are four ways to C (</a:t>
            </a:r>
            <a:r>
              <a:rPr lang="en-AU" altLang="en-US" sz="3200" i="1" dirty="0" smtClean="0"/>
              <a:t>k</a:t>
            </a:r>
            <a:r>
              <a:rPr lang="en-AU" altLang="en-US" sz="3200" i="1" baseline="-25000" dirty="0" smtClean="0"/>
              <a:t>2</a:t>
            </a:r>
            <a:r>
              <a:rPr lang="en-AU" altLang="en-US" dirty="0" smtClean="0"/>
              <a:t> = 4).</a:t>
            </a:r>
          </a:p>
          <a:p>
            <a:pPr eaLnBrk="1" hangingPunct="1"/>
            <a:endParaRPr lang="en-AU" altLang="en-US" dirty="0" smtClean="0"/>
          </a:p>
          <a:p>
            <a:pPr eaLnBrk="1" hangingPunct="1"/>
            <a:endParaRPr lang="en-AU" altLang="en-US" dirty="0" smtClean="0"/>
          </a:p>
          <a:p>
            <a:pPr eaLnBrk="1" hangingPunct="1"/>
            <a:endParaRPr lang="en-AU" altLang="en-US" dirty="0" smtClean="0"/>
          </a:p>
          <a:p>
            <a:pPr eaLnBrk="1" hangingPunct="1"/>
            <a:r>
              <a:rPr lang="en-AU" altLang="en-US" dirty="0" smtClean="0"/>
              <a:t>There are </a:t>
            </a:r>
            <a:r>
              <a:rPr lang="en-AU" altLang="en-US" sz="3200" i="1" dirty="0" smtClean="0"/>
              <a:t>k</a:t>
            </a:r>
            <a:r>
              <a:rPr lang="en-AU" altLang="en-US" sz="3200" i="1" baseline="-25000" dirty="0" smtClean="0"/>
              <a:t>1 </a:t>
            </a:r>
            <a:r>
              <a:rPr lang="en-AU" altLang="en-US" dirty="0" smtClean="0">
                <a:sym typeface="Symbol" panose="05050102010706020507" pitchFamily="18" charset="2"/>
              </a:rPr>
              <a:t> </a:t>
            </a:r>
            <a:r>
              <a:rPr lang="en-AU" altLang="en-US" sz="3200" i="1" dirty="0" smtClean="0"/>
              <a:t>k</a:t>
            </a:r>
            <a:r>
              <a:rPr lang="en-AU" altLang="en-US" sz="3200" i="1" baseline="-25000" dirty="0" smtClean="0"/>
              <a:t>2 </a:t>
            </a:r>
            <a:r>
              <a:rPr lang="en-AU" altLang="en-US" sz="3200" i="1" dirty="0" smtClean="0"/>
              <a:t>= </a:t>
            </a:r>
            <a:r>
              <a:rPr lang="en-AU" altLang="en-US" dirty="0" smtClean="0"/>
              <a:t>2 </a:t>
            </a:r>
            <a:r>
              <a:rPr lang="en-AU" altLang="en-US" dirty="0" smtClean="0">
                <a:sym typeface="Symbol" panose="05050102010706020507" pitchFamily="18" charset="2"/>
              </a:rPr>
              <a:t> 4 = 8 different ways of travelling from A to C.</a:t>
            </a: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1187450" y="4652963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AU" altLang="en-US" sz="2400"/>
              <a:t>A</a:t>
            </a:r>
          </a:p>
        </p:txBody>
      </p:sp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7308850" y="4652963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AU" altLang="en-US" sz="2400"/>
              <a:t>C</a:t>
            </a:r>
          </a:p>
        </p:txBody>
      </p:sp>
      <p:sp>
        <p:nvSpPr>
          <p:cNvPr id="62471" name="Text Box 7"/>
          <p:cNvSpPr txBox="1">
            <a:spLocks noChangeArrowheads="1"/>
          </p:cNvSpPr>
          <p:nvPr/>
        </p:nvSpPr>
        <p:spPr bwMode="auto">
          <a:xfrm>
            <a:off x="3924300" y="4700588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AU" altLang="en-US" sz="2400"/>
              <a:t>B</a:t>
            </a:r>
          </a:p>
        </p:txBody>
      </p:sp>
      <p:sp>
        <p:nvSpPr>
          <p:cNvPr id="62472" name="Oval 14"/>
          <p:cNvSpPr>
            <a:spLocks noChangeArrowheads="1"/>
          </p:cNvSpPr>
          <p:nvPr/>
        </p:nvSpPr>
        <p:spPr bwMode="auto">
          <a:xfrm>
            <a:off x="1258888" y="4365625"/>
            <a:ext cx="217487" cy="215900"/>
          </a:xfrm>
          <a:prstGeom prst="ellipse">
            <a:avLst/>
          </a:prstGeom>
          <a:solidFill>
            <a:schemeClr val="accent2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62473" name="Oval 15"/>
          <p:cNvSpPr>
            <a:spLocks noChangeArrowheads="1"/>
          </p:cNvSpPr>
          <p:nvPr/>
        </p:nvSpPr>
        <p:spPr bwMode="auto">
          <a:xfrm>
            <a:off x="3995738" y="4365625"/>
            <a:ext cx="217487" cy="215900"/>
          </a:xfrm>
          <a:prstGeom prst="ellipse">
            <a:avLst/>
          </a:prstGeom>
          <a:solidFill>
            <a:schemeClr val="accent2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62474" name="Oval 16"/>
          <p:cNvSpPr>
            <a:spLocks noChangeArrowheads="1"/>
          </p:cNvSpPr>
          <p:nvPr/>
        </p:nvSpPr>
        <p:spPr bwMode="auto">
          <a:xfrm>
            <a:off x="7380288" y="4365625"/>
            <a:ext cx="217487" cy="215900"/>
          </a:xfrm>
          <a:prstGeom prst="ellipse">
            <a:avLst/>
          </a:prstGeom>
          <a:solidFill>
            <a:schemeClr val="accent2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cxnSp>
        <p:nvCxnSpPr>
          <p:cNvPr id="209937" name="AutoShape 17"/>
          <p:cNvCxnSpPr>
            <a:cxnSpLocks noChangeShapeType="1"/>
            <a:stCxn id="62472" idx="7"/>
            <a:endCxn id="62473" idx="1"/>
          </p:cNvCxnSpPr>
          <p:nvPr/>
        </p:nvCxnSpPr>
        <p:spPr bwMode="auto">
          <a:xfrm rot="5400000" flipV="1">
            <a:off x="2735263" y="3106737"/>
            <a:ext cx="1588" cy="2582863"/>
          </a:xfrm>
          <a:prstGeom prst="curvedConnector3">
            <a:avLst>
              <a:gd name="adj1" fmla="val -16400005"/>
            </a:avLst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38" name="AutoShape 18"/>
          <p:cNvCxnSpPr>
            <a:cxnSpLocks noChangeShapeType="1"/>
            <a:stCxn id="62472" idx="5"/>
            <a:endCxn id="62473" idx="3"/>
          </p:cNvCxnSpPr>
          <p:nvPr/>
        </p:nvCxnSpPr>
        <p:spPr bwMode="auto">
          <a:xfrm rot="16200000" flipH="1">
            <a:off x="2735263" y="3259137"/>
            <a:ext cx="1588" cy="2582863"/>
          </a:xfrm>
          <a:prstGeom prst="curvedConnector3">
            <a:avLst>
              <a:gd name="adj1" fmla="val 16400005"/>
            </a:avLst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39" name="AutoShape 19"/>
          <p:cNvCxnSpPr>
            <a:cxnSpLocks noChangeShapeType="1"/>
            <a:stCxn id="62473" idx="7"/>
            <a:endCxn id="62474" idx="1"/>
          </p:cNvCxnSpPr>
          <p:nvPr/>
        </p:nvCxnSpPr>
        <p:spPr bwMode="auto">
          <a:xfrm rot="5400000" flipV="1">
            <a:off x="5795963" y="2782887"/>
            <a:ext cx="1588" cy="3230563"/>
          </a:xfrm>
          <a:prstGeom prst="curvedConnector3">
            <a:avLst>
              <a:gd name="adj1" fmla="val -16400005"/>
            </a:avLst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40" name="AutoShape 20"/>
          <p:cNvCxnSpPr>
            <a:cxnSpLocks noChangeShapeType="1"/>
            <a:stCxn id="62473" idx="6"/>
            <a:endCxn id="62474" idx="2"/>
          </p:cNvCxnSpPr>
          <p:nvPr/>
        </p:nvCxnSpPr>
        <p:spPr bwMode="auto">
          <a:xfrm>
            <a:off x="4213225" y="4473575"/>
            <a:ext cx="3167063" cy="0"/>
          </a:xfrm>
          <a:prstGeom prst="straightConnector1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41" name="AutoShape 21"/>
          <p:cNvCxnSpPr>
            <a:cxnSpLocks noChangeShapeType="1"/>
            <a:stCxn id="62473" idx="5"/>
            <a:endCxn id="62474" idx="4"/>
          </p:cNvCxnSpPr>
          <p:nvPr/>
        </p:nvCxnSpPr>
        <p:spPr bwMode="auto">
          <a:xfrm rot="16200000" flipH="1">
            <a:off x="5819775" y="2911475"/>
            <a:ext cx="31750" cy="3308350"/>
          </a:xfrm>
          <a:prstGeom prst="curvedConnector3">
            <a:avLst>
              <a:gd name="adj1" fmla="val 820000"/>
            </a:avLst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942" name="AutoShape 22"/>
          <p:cNvCxnSpPr>
            <a:cxnSpLocks noChangeShapeType="1"/>
            <a:stCxn id="62473" idx="0"/>
            <a:endCxn id="62474" idx="0"/>
          </p:cNvCxnSpPr>
          <p:nvPr/>
        </p:nvCxnSpPr>
        <p:spPr bwMode="auto">
          <a:xfrm rot="5400000" flipV="1">
            <a:off x="5796756" y="2674144"/>
            <a:ext cx="1588" cy="3384550"/>
          </a:xfrm>
          <a:prstGeom prst="curvedConnector3">
            <a:avLst>
              <a:gd name="adj1" fmla="val -34100014"/>
            </a:avLst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BE5B90-0F3E-4EA5-B88B-4FC9BF6F5AF7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AU" altLang="en-US" sz="1000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Counting rule 3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1571625"/>
            <a:ext cx="7869238" cy="4746625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dirty="0" smtClean="0"/>
              <a:t>The number of ways that </a:t>
            </a:r>
            <a:r>
              <a:rPr lang="en-AU" altLang="en-US" i="1" dirty="0" smtClean="0"/>
              <a:t>n</a:t>
            </a:r>
            <a:r>
              <a:rPr lang="en-AU" altLang="en-US" dirty="0" smtClean="0"/>
              <a:t> objects can be arranged in order is</a:t>
            </a:r>
          </a:p>
          <a:p>
            <a:pPr eaLnBrk="1" hangingPunct="1"/>
            <a:endParaRPr lang="en-AU" altLang="en-US" dirty="0" smtClean="0"/>
          </a:p>
          <a:p>
            <a:pPr eaLnBrk="1" hangingPunct="1"/>
            <a:endParaRPr lang="en-AU" altLang="en-US" dirty="0" smtClean="0"/>
          </a:p>
          <a:p>
            <a:pPr eaLnBrk="1" hangingPunct="1"/>
            <a:r>
              <a:rPr lang="en-AU" altLang="en-US" i="1" dirty="0" smtClean="0"/>
              <a:t>n</a:t>
            </a:r>
            <a:r>
              <a:rPr lang="en-AU" altLang="en-US" dirty="0" smtClean="0"/>
              <a:t>! is read “</a:t>
            </a:r>
            <a:r>
              <a:rPr lang="en-AU" altLang="en-US" i="1" dirty="0" smtClean="0"/>
              <a:t>n</a:t>
            </a:r>
            <a:r>
              <a:rPr lang="en-AU" altLang="en-US" dirty="0" smtClean="0"/>
              <a:t> factorial” or “factorial </a:t>
            </a:r>
            <a:r>
              <a:rPr lang="en-AU" altLang="en-US" i="1" dirty="0" smtClean="0"/>
              <a:t>n</a:t>
            </a:r>
            <a:r>
              <a:rPr lang="en-AU" altLang="en-US" dirty="0" smtClean="0"/>
              <a:t>”.</a:t>
            </a:r>
          </a:p>
          <a:p>
            <a:pPr eaLnBrk="1" hangingPunct="1"/>
            <a:r>
              <a:rPr lang="en-AU" altLang="en-US" dirty="0" smtClean="0"/>
              <a:t>We define 0! = 1 and 1! = 1.</a:t>
            </a:r>
          </a:p>
          <a:p>
            <a:pPr eaLnBrk="1" hangingPunct="1"/>
            <a:r>
              <a:rPr lang="en-AU" altLang="en-US" dirty="0" smtClean="0"/>
              <a:t>Example – the number of ways you can arrange five cars in five parking slots is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dirty="0" smtClean="0"/>
              <a:t>	5! = 5 </a:t>
            </a:r>
            <a:r>
              <a:rPr lang="en-AU" altLang="en-US" dirty="0" smtClean="0">
                <a:sym typeface="Symbol" panose="05050102010706020507" pitchFamily="18" charset="2"/>
              </a:rPr>
              <a:t> 4  3  2  1 = </a:t>
            </a:r>
            <a:r>
              <a:rPr lang="en-AU" altLang="en-US" dirty="0" smtClean="0"/>
              <a:t>120.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z="1600" dirty="0" smtClean="0">
                <a:solidFill>
                  <a:srgbClr val="FF0000"/>
                </a:solidFill>
                <a:sym typeface="Symbol" panose="05050102010706020507" pitchFamily="18" charset="2"/>
              </a:rPr>
              <a:t>Note the difference from the previous – one car cannot be parked in two spaces.</a:t>
            </a:r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1835150" y="2852738"/>
          <a:ext cx="4991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3" name="Equation" r:id="rId3" imgW="4991100" imgH="520700" progId="Equation.DSMT4">
                  <p:embed/>
                </p:oleObj>
              </mc:Choice>
              <mc:Fallback>
                <p:oleObj name="Equation" r:id="rId3" imgW="4991100" imgH="520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852738"/>
                        <a:ext cx="49911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DF2CEF-1135-430F-B450-F065857BB9AA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AU" altLang="en-US" sz="1000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Counting rule 4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3338513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b="1" i="1" dirty="0" smtClean="0"/>
              <a:t>Permutations</a:t>
            </a:r>
            <a:r>
              <a:rPr lang="en-AU" altLang="en-US" dirty="0" smtClean="0"/>
              <a:t> - the number of ways of arranging </a:t>
            </a:r>
            <a:r>
              <a:rPr lang="en-AU" altLang="en-US" i="1" dirty="0" smtClean="0"/>
              <a:t>X</a:t>
            </a:r>
            <a:r>
              <a:rPr lang="en-AU" altLang="en-US" dirty="0" smtClean="0"/>
              <a:t> objects selected from </a:t>
            </a:r>
            <a:r>
              <a:rPr lang="en-AU" altLang="en-US" i="1" dirty="0" smtClean="0"/>
              <a:t>n</a:t>
            </a:r>
            <a:r>
              <a:rPr lang="en-AU" altLang="en-US" dirty="0" smtClean="0"/>
              <a:t> objects in order is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AU" altLang="en-US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AU" altLang="en-US" dirty="0" smtClean="0"/>
          </a:p>
          <a:p>
            <a:pPr eaLnBrk="1" hangingPunct="1"/>
            <a:r>
              <a:rPr lang="en-AU" altLang="en-US" dirty="0" smtClean="0"/>
              <a:t>Example – the number of ways you can seat six persons (</a:t>
            </a:r>
            <a:r>
              <a:rPr lang="en-AU" altLang="en-US" i="1" dirty="0" smtClean="0"/>
              <a:t>n = </a:t>
            </a:r>
            <a:r>
              <a:rPr lang="en-AU" altLang="en-US" dirty="0" smtClean="0"/>
              <a:t>6) in three chairs (</a:t>
            </a:r>
            <a:r>
              <a:rPr lang="en-AU" altLang="en-US" i="1" dirty="0" smtClean="0"/>
              <a:t>X</a:t>
            </a:r>
            <a:r>
              <a:rPr lang="en-AU" altLang="en-US" dirty="0" smtClean="0"/>
              <a:t> = 3) is </a:t>
            </a:r>
          </a:p>
        </p:txBody>
      </p:sp>
      <p:graphicFrame>
        <p:nvGraphicFramePr>
          <p:cNvPr id="64517" name="Object 4"/>
          <p:cNvGraphicFramePr>
            <a:graphicFrameLocks noChangeAspect="1"/>
          </p:cNvGraphicFramePr>
          <p:nvPr/>
        </p:nvGraphicFramePr>
        <p:xfrm>
          <a:off x="2771775" y="2773363"/>
          <a:ext cx="1333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9" name="Equation" r:id="rId3" imgW="1333500" imgH="1016000" progId="Equation.DSMT4">
                  <p:embed/>
                </p:oleObj>
              </mc:Choice>
              <mc:Fallback>
                <p:oleObj name="Equation" r:id="rId3" imgW="1333500" imgH="1016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773363"/>
                        <a:ext cx="1333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9" name="Object 7"/>
          <p:cNvGraphicFramePr>
            <a:graphicFrameLocks noChangeAspect="1"/>
          </p:cNvGraphicFramePr>
          <p:nvPr/>
        </p:nvGraphicFramePr>
        <p:xfrm>
          <a:off x="1436688" y="5076825"/>
          <a:ext cx="7023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0" name="Equation" r:id="rId5" imgW="7023100" imgH="1016000" progId="Equation.DSMT4">
                  <p:embed/>
                </p:oleObj>
              </mc:Choice>
              <mc:Fallback>
                <p:oleObj name="Equation" r:id="rId5" imgW="7023100" imgH="1016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688" y="5076825"/>
                        <a:ext cx="70231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Counting rule 4 (contd.)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14400" y="1600200"/>
                <a:ext cx="7772400" cy="4781128"/>
              </a:xfrm>
            </p:spPr>
            <p:txBody>
              <a:bodyPr/>
              <a:lstStyle/>
              <a:p>
                <a:r>
                  <a:rPr lang="en-AU" sz="2600" dirty="0" smtClean="0"/>
                  <a:t>Note the difference from Counting rule 3. Counting rule 3 will apply if six persons are sitting in 6 chairs.</a:t>
                </a:r>
              </a:p>
              <a:p>
                <a:r>
                  <a:rPr lang="en-AU" sz="2600" dirty="0" smtClean="0"/>
                  <a:t>But since the number of chairs is less, one of six persons can sit in the first chair.</a:t>
                </a:r>
              </a:p>
              <a:p>
                <a:r>
                  <a:rPr lang="en-AU" sz="2600" dirty="0" smtClean="0"/>
                  <a:t>Among the remaining five persons, anyone can sit in the second chair.</a:t>
                </a:r>
              </a:p>
              <a:p>
                <a:r>
                  <a:rPr lang="en-AU" sz="2600" dirty="0" smtClean="0"/>
                  <a:t>Then among the remaining four persons, anyone can sit in the third chair.</a:t>
                </a:r>
              </a:p>
              <a:p>
                <a:r>
                  <a:rPr lang="en-AU" sz="2600" dirty="0" smtClean="0"/>
                  <a:t>All </a:t>
                </a:r>
                <a:r>
                  <a:rPr lang="en-AU" sz="2600" dirty="0" smtClean="0"/>
                  <a:t>chair</a:t>
                </a:r>
                <a:r>
                  <a:rPr lang="en-AU" sz="2600" dirty="0" smtClean="0"/>
                  <a:t>s </a:t>
                </a:r>
                <a:r>
                  <a:rPr lang="en-AU" sz="2600" dirty="0" smtClean="0"/>
                  <a:t>are now occupied, no more chair to fill. Total number of </a:t>
                </a:r>
                <a:r>
                  <a:rPr lang="en-AU" sz="2600" dirty="0" smtClean="0"/>
                  <a:t>ways </a:t>
                </a:r>
                <a:r>
                  <a:rPr lang="en-AU" sz="2600" dirty="0" smtClean="0"/>
                  <a:t>= </a:t>
                </a:r>
                <a14:m>
                  <m:oMath xmlns:m="http://schemas.openxmlformats.org/officeDocument/2006/math">
                    <m:r>
                      <a:rPr lang="en-AU" sz="26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×5×4=120</m:t>
                    </m:r>
                  </m:oMath>
                </a14:m>
                <a:r>
                  <a:rPr lang="en-AU" sz="2600" dirty="0" smtClean="0"/>
                  <a:t>.</a:t>
                </a:r>
                <a:endParaRPr lang="en-AU" sz="26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600200"/>
                <a:ext cx="7772400" cy="4781128"/>
              </a:xfrm>
              <a:blipFill>
                <a:blip r:embed="rId2"/>
                <a:stretch>
                  <a:fillRect l="-941" t="-1276" r="-2275" b="-2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1836B5-E672-490D-BFA8-178695D9A6FB}" type="slidenum">
              <a:rPr lang="en-AU" altLang="en-US" smtClean="0"/>
              <a:pPr>
                <a:defRPr/>
              </a:pPr>
              <a:t>60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645533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9AB375-56A5-4AD3-A521-6E8B0FEA2AFD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AU" altLang="en-US" sz="1000"/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Counting rule 5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1373188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b="1" i="1" smtClean="0"/>
              <a:t>Combinations</a:t>
            </a:r>
            <a:r>
              <a:rPr lang="en-AU" altLang="en-US" smtClean="0"/>
              <a:t> - the number of ways of arranging </a:t>
            </a:r>
            <a:r>
              <a:rPr lang="en-AU" altLang="en-US" i="1" smtClean="0"/>
              <a:t>X</a:t>
            </a:r>
            <a:r>
              <a:rPr lang="en-AU" altLang="en-US" smtClean="0"/>
              <a:t> objects selected from </a:t>
            </a:r>
            <a:r>
              <a:rPr lang="en-AU" altLang="en-US" i="1" smtClean="0"/>
              <a:t>n</a:t>
            </a:r>
            <a:r>
              <a:rPr lang="en-AU" altLang="en-US" smtClean="0"/>
              <a:t> objects </a:t>
            </a:r>
            <a:r>
              <a:rPr lang="en-AU" altLang="en-US" b="1" i="1" smtClean="0"/>
              <a:t>irrespective of order</a:t>
            </a:r>
            <a:r>
              <a:rPr lang="en-AU" altLang="en-US" smtClean="0"/>
              <a:t> is</a:t>
            </a: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/>
        </p:nvGraphicFramePr>
        <p:xfrm>
          <a:off x="2143125" y="3200400"/>
          <a:ext cx="38862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0" name="Equation" r:id="rId3" imgW="3886200" imgH="1091880" progId="Equation.DSMT4">
                  <p:embed/>
                </p:oleObj>
              </mc:Choice>
              <mc:Fallback>
                <p:oleObj name="Equation" r:id="rId3" imgW="3886200" imgH="10918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3200400"/>
                        <a:ext cx="38862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A07BFD-F42C-4B7B-BA6C-F2CB11B78FCD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AU" altLang="en-US" sz="100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Counting rule 5 – example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1373188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dirty="0" smtClean="0"/>
              <a:t>The number of ways you can choose three people from a group of six to be members on a committee irrespective of order is </a:t>
            </a:r>
          </a:p>
        </p:txBody>
      </p:sp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1619250" y="3357563"/>
          <a:ext cx="61468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8" name="Equation" r:id="rId3" imgW="6146800" imgH="1092200" progId="Equation.DSMT4">
                  <p:embed/>
                </p:oleObj>
              </mc:Choice>
              <mc:Fallback>
                <p:oleObj name="Equation" r:id="rId3" imgW="6146800" imgH="1092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357563"/>
                        <a:ext cx="61468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900263" y="4785717"/>
            <a:ext cx="74740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solidFill>
                  <a:srgbClr val="0070C0"/>
                </a:solidFill>
              </a:rPr>
              <a:t>Note the difference from permutation. Within a committee of 3 members it doesn’t matter who is selected before whom. One can organize 3 persons in 3! ways, which is taken away in the combination formula by dividing with 3!.</a:t>
            </a:r>
            <a:endParaRPr lang="en-AU" sz="2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C042B8-6FE3-4ABC-B9C1-11997130AC08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AU" altLang="en-US" sz="1000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Example 4-5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600200"/>
            <a:ext cx="7931150" cy="3252788"/>
          </a:xfr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The CEO of a large accounting firm must choose a team of 6 accountants to work on a new project.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He has a pool of 14 accountants to choose from.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mtClean="0"/>
              <a:t>	How many ways can the CEO select the team?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1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97FD52-0ADE-4F53-B726-31D8E7F3B0AC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AU" altLang="en-US" sz="1000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Solution 4-5</a:t>
            </a:r>
          </a:p>
        </p:txBody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1373188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smtClean="0"/>
              <a:t>First decide whether to use permutations or combinations: order doesn’t matter so use combinations.</a:t>
            </a:r>
          </a:p>
        </p:txBody>
      </p:sp>
      <p:graphicFrame>
        <p:nvGraphicFramePr>
          <p:cNvPr id="218118" name="Object 6"/>
          <p:cNvGraphicFramePr>
            <a:graphicFrameLocks noChangeAspect="1"/>
          </p:cNvGraphicFramePr>
          <p:nvPr/>
        </p:nvGraphicFramePr>
        <p:xfrm>
          <a:off x="900113" y="2984500"/>
          <a:ext cx="47625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9" name="Equation" r:id="rId3" imgW="4762500" imgH="1092200" progId="Equation.DSMT4">
                  <p:embed/>
                </p:oleObj>
              </mc:Choice>
              <mc:Fallback>
                <p:oleObj name="Equation" r:id="rId3" imgW="4762500" imgH="1092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984500"/>
                        <a:ext cx="47625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19" name="Object 7"/>
          <p:cNvGraphicFramePr>
            <a:graphicFrameLocks noChangeAspect="1"/>
          </p:cNvGraphicFramePr>
          <p:nvPr/>
        </p:nvGraphicFramePr>
        <p:xfrm>
          <a:off x="1692275" y="4124325"/>
          <a:ext cx="6731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0" name="Equation" r:id="rId5" imgW="6731000" imgH="889000" progId="Equation.DSMT4">
                  <p:embed/>
                </p:oleObj>
              </mc:Choice>
              <mc:Fallback>
                <p:oleObj name="Equation" r:id="rId5" imgW="6731000" imgH="889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124325"/>
                        <a:ext cx="6731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0" name="Object 8"/>
          <p:cNvGraphicFramePr>
            <a:graphicFrameLocks noChangeAspect="1"/>
          </p:cNvGraphicFramePr>
          <p:nvPr/>
        </p:nvGraphicFramePr>
        <p:xfrm>
          <a:off x="1692275" y="5203825"/>
          <a:ext cx="3733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1" name="Equation" r:id="rId7" imgW="3733800" imgH="889000" progId="Equation.DSMT4">
                  <p:embed/>
                </p:oleObj>
              </mc:Choice>
              <mc:Fallback>
                <p:oleObj name="Equation" r:id="rId7" imgW="3733800" imgH="889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203825"/>
                        <a:ext cx="3733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1" name="Object 9"/>
          <p:cNvGraphicFramePr>
            <a:graphicFrameLocks noChangeAspect="1"/>
          </p:cNvGraphicFramePr>
          <p:nvPr/>
        </p:nvGraphicFramePr>
        <p:xfrm>
          <a:off x="1692275" y="6191250"/>
          <a:ext cx="1943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2" name="Equation" r:id="rId9" imgW="1943100" imgH="406400" progId="Equation.DSMT4">
                  <p:embed/>
                </p:oleObj>
              </mc:Choice>
              <mc:Fallback>
                <p:oleObj name="Equation" r:id="rId9" imgW="1943100" imgH="406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6191250"/>
                        <a:ext cx="1943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249BA1-8643-4C5D-B85A-DC1A2D2D1C26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AU" altLang="en-US" sz="1000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After the lecture each week…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3851275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AU" altLang="en-US" smtClean="0"/>
              <a:t>Review the lecture material</a:t>
            </a:r>
          </a:p>
          <a:p>
            <a:pPr eaLnBrk="1" hangingPunct="1"/>
            <a:r>
              <a:rPr lang="en-AU" altLang="en-US" smtClean="0"/>
              <a:t>Complete all readings</a:t>
            </a:r>
          </a:p>
          <a:p>
            <a:pPr eaLnBrk="1" hangingPunct="1"/>
            <a:r>
              <a:rPr lang="en-AU" altLang="en-US" smtClean="0"/>
              <a:t>Complete all of recommended problems (listed in SG) from the textbook</a:t>
            </a:r>
          </a:p>
          <a:p>
            <a:pPr eaLnBrk="1" hangingPunct="1"/>
            <a:r>
              <a:rPr lang="en-AU" altLang="en-US" smtClean="0"/>
              <a:t>Complete at least some of additional problems</a:t>
            </a:r>
          </a:p>
          <a:p>
            <a:pPr eaLnBrk="1" hangingPunct="1"/>
            <a:r>
              <a:rPr lang="en-AU" altLang="en-US" smtClean="0"/>
              <a:t>Consider (briefly) the discussion points prior to tutorials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Brain teasers</a:t>
            </a:r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928688" y="1571625"/>
            <a:ext cx="7772400" cy="4702175"/>
          </a:xfrm>
        </p:spPr>
        <p:txBody>
          <a:bodyPr/>
          <a:lstStyle/>
          <a:p>
            <a:pPr eaLnBrk="1" hangingPunct="1"/>
            <a:r>
              <a:rPr lang="en-AU" altLang="en-US" sz="2400" smtClean="0"/>
              <a:t>Can a probability be ever negative?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z="1400" smtClean="0">
                <a:solidFill>
                  <a:srgbClr val="FF0000"/>
                </a:solidFill>
              </a:rPr>
              <a:t>Answer: No, never. </a:t>
            </a:r>
          </a:p>
          <a:p>
            <a:pPr eaLnBrk="1" hangingPunct="1"/>
            <a:r>
              <a:rPr lang="en-AU" altLang="en-US" sz="2400" smtClean="0"/>
              <a:t>Can two events be independent and mutually exclusive at the same time?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z="1400" smtClean="0">
                <a:solidFill>
                  <a:srgbClr val="FF0000"/>
                </a:solidFill>
              </a:rPr>
              <a:t>Answer: No</a:t>
            </a:r>
          </a:p>
          <a:p>
            <a:pPr eaLnBrk="1" hangingPunct="1"/>
            <a:r>
              <a:rPr lang="en-AU" altLang="en-US" sz="2400" smtClean="0"/>
              <a:t>What do we call a complete list where probability of each event is displayed?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z="1400" smtClean="0">
                <a:solidFill>
                  <a:srgbClr val="FF0000"/>
                </a:solidFill>
              </a:rPr>
              <a:t>Answer: A probability distribution.</a:t>
            </a:r>
          </a:p>
          <a:p>
            <a:pPr eaLnBrk="1" hangingPunct="1"/>
            <a:r>
              <a:rPr lang="en-AU" altLang="en-US" sz="2400" smtClean="0"/>
              <a:t>Can the frequency distribution on the following page be used to construct a probability distribution?</a:t>
            </a:r>
          </a:p>
          <a:p>
            <a:pPr eaLnBrk="1" hangingPunct="1"/>
            <a:endParaRPr lang="en-AU" altLang="en-US" sz="2400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84427D-544B-453C-BA93-E51DA7A65B2E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AU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Brain teasers (Contd.)</a:t>
            </a:r>
          </a:p>
        </p:txBody>
      </p:sp>
      <p:sp>
        <p:nvSpPr>
          <p:cNvPr id="7168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4F5119-AAF0-4174-B85A-F248263B2109}" type="slidenum">
              <a:rPr lang="en-AU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AU" altLang="en-US" sz="1000"/>
          </a:p>
        </p:txBody>
      </p:sp>
      <p:pic>
        <p:nvPicPr>
          <p:cNvPr id="7168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0163" y="1600200"/>
            <a:ext cx="7000875" cy="4530725"/>
          </a:xfrm>
          <a:noFill/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071563" y="5857875"/>
            <a:ext cx="4643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>
                <a:solidFill>
                  <a:srgbClr val="FF0000"/>
                </a:solidFill>
              </a:rPr>
              <a:t>Answer: Yes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ayers">
  <a:themeElements>
    <a:clrScheme name="Layers 10">
      <a:dk1>
        <a:srgbClr val="000000"/>
      </a:dk1>
      <a:lt1>
        <a:srgbClr val="FFFFFF"/>
      </a:lt1>
      <a:dk2>
        <a:srgbClr val="660033"/>
      </a:dk2>
      <a:lt2>
        <a:srgbClr val="666699"/>
      </a:lt2>
      <a:accent1>
        <a:srgbClr val="95A3D1"/>
      </a:accent1>
      <a:accent2>
        <a:srgbClr val="FFFF66"/>
      </a:accent2>
      <a:accent3>
        <a:srgbClr val="FFFFFF"/>
      </a:accent3>
      <a:accent4>
        <a:srgbClr val="000000"/>
      </a:accent4>
      <a:accent5>
        <a:srgbClr val="C8CEE5"/>
      </a:accent5>
      <a:accent6>
        <a:srgbClr val="E7E75C"/>
      </a:accent6>
      <a:hlink>
        <a:srgbClr val="5A84D8"/>
      </a:hlink>
      <a:folHlink>
        <a:srgbClr val="CCCC99"/>
      </a:folHlink>
    </a:clrScheme>
    <a:fontScheme name="Layers">
      <a:majorFont>
        <a:latin typeface="Times New Roman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4808</TotalTime>
  <Words>2857</Words>
  <Application>Microsoft Office PowerPoint</Application>
  <PresentationFormat>On-screen Show (4:3)</PresentationFormat>
  <Paragraphs>648</Paragraphs>
  <Slides>67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5" baseType="lpstr">
      <vt:lpstr>Arial</vt:lpstr>
      <vt:lpstr>Calibri</vt:lpstr>
      <vt:lpstr>Cambria Math</vt:lpstr>
      <vt:lpstr>Symbol</vt:lpstr>
      <vt:lpstr>Times New Roman</vt:lpstr>
      <vt:lpstr>Wingdings</vt:lpstr>
      <vt:lpstr>Layers</vt:lpstr>
      <vt:lpstr>Equation</vt:lpstr>
      <vt:lpstr>Probability</vt:lpstr>
      <vt:lpstr>Objectives</vt:lpstr>
      <vt:lpstr>What is probability?</vt:lpstr>
      <vt:lpstr>Three approaches to probability</vt:lpstr>
      <vt:lpstr>Examples</vt:lpstr>
      <vt:lpstr>Sample space and the event of rolling a total of 6 in a throw of two dice.</vt:lpstr>
      <vt:lpstr>Three approaches to probability (contd.)</vt:lpstr>
      <vt:lpstr>Three approaches to probability (contd.)</vt:lpstr>
      <vt:lpstr>Some definitions</vt:lpstr>
      <vt:lpstr>Some definitions</vt:lpstr>
      <vt:lpstr>Pictorial depictions of probability</vt:lpstr>
      <vt:lpstr>Tabular presentation of probability</vt:lpstr>
      <vt:lpstr>Example 4-1</vt:lpstr>
      <vt:lpstr>Example 4-1</vt:lpstr>
      <vt:lpstr>Example 4-1</vt:lpstr>
      <vt:lpstr>Example 4-1</vt:lpstr>
      <vt:lpstr>Example 4-1</vt:lpstr>
      <vt:lpstr>Example 4-1</vt:lpstr>
      <vt:lpstr>Example 4-1</vt:lpstr>
      <vt:lpstr>Example 4-1 – alternative view for (h)</vt:lpstr>
      <vt:lpstr>Example 4-1</vt:lpstr>
      <vt:lpstr>General addition rule</vt:lpstr>
      <vt:lpstr>Addition rule: mutually exclusive events</vt:lpstr>
      <vt:lpstr>Conditional probability</vt:lpstr>
      <vt:lpstr>Statistical independence</vt:lpstr>
      <vt:lpstr>Example 4-2</vt:lpstr>
      <vt:lpstr>Example 4-2</vt:lpstr>
      <vt:lpstr>Example 4-2</vt:lpstr>
      <vt:lpstr>Example 4-2</vt:lpstr>
      <vt:lpstr>Example 4-2</vt:lpstr>
      <vt:lpstr>Example 4-3</vt:lpstr>
      <vt:lpstr>Example 4-3</vt:lpstr>
      <vt:lpstr>Solution 4-3</vt:lpstr>
      <vt:lpstr>Solution 4-3</vt:lpstr>
      <vt:lpstr>Solution 4-3</vt:lpstr>
      <vt:lpstr>Solution 4-3</vt:lpstr>
      <vt:lpstr>Solution 4-3</vt:lpstr>
      <vt:lpstr>Solution 4-3</vt:lpstr>
      <vt:lpstr>Solution 4-3</vt:lpstr>
      <vt:lpstr>Solution 4-3</vt:lpstr>
      <vt:lpstr>Solution 4-3</vt:lpstr>
      <vt:lpstr>Solution 4-3</vt:lpstr>
      <vt:lpstr>Solution 4-3</vt:lpstr>
      <vt:lpstr>Solution 4-3</vt:lpstr>
      <vt:lpstr>Bayes’ theorem</vt:lpstr>
      <vt:lpstr>Example 4-4</vt:lpstr>
      <vt:lpstr>Solution 4-4</vt:lpstr>
      <vt:lpstr>Solution 4-4</vt:lpstr>
      <vt:lpstr>Solution 4-4</vt:lpstr>
      <vt:lpstr>Solution 4-4</vt:lpstr>
      <vt:lpstr>Solution 4-4</vt:lpstr>
      <vt:lpstr>Solution 4-4</vt:lpstr>
      <vt:lpstr>Counting rules</vt:lpstr>
      <vt:lpstr>Counting rule 1</vt:lpstr>
      <vt:lpstr>Counting rule 1 - example</vt:lpstr>
      <vt:lpstr>Counting rule 2</vt:lpstr>
      <vt:lpstr>Counting rule 2 - example</vt:lpstr>
      <vt:lpstr>Counting rule 3</vt:lpstr>
      <vt:lpstr>Counting rule 4</vt:lpstr>
      <vt:lpstr>Counting rule 4 (contd.)</vt:lpstr>
      <vt:lpstr>Counting rule 5</vt:lpstr>
      <vt:lpstr>Counting rule 5 – example</vt:lpstr>
      <vt:lpstr>Example 4-5</vt:lpstr>
      <vt:lpstr>Solution 4-5</vt:lpstr>
      <vt:lpstr>After the lecture each week…</vt:lpstr>
      <vt:lpstr>Brain teasers</vt:lpstr>
      <vt:lpstr>Brain teasers (Contd.)</vt:lpstr>
    </vt:vector>
  </TitlesOfParts>
  <Manager/>
  <Company>Central Queensland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4: Probability</dc:title>
  <dc:subject/>
  <dc:creator>lindsays</dc:creator>
  <cp:keywords/>
  <dc:description/>
  <cp:lastModifiedBy>Saleh Wasimi</cp:lastModifiedBy>
  <cp:revision>264</cp:revision>
  <dcterms:created xsi:type="dcterms:W3CDTF">2006-11-16T00:16:31Z</dcterms:created>
  <dcterms:modified xsi:type="dcterms:W3CDTF">2019-03-23T12:12:10Z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TC011819901033</vt:lpwstr>
  </property>
</Properties>
</file>